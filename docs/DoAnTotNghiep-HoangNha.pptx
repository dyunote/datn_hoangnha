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hội đồng. Nhóm em gồm 4 thành viên, hôm nay báo cáo đề tài xây dựng website bán quần áo Hoàng Nha.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bố cục buổi báo cáo và người trình bày từng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bối cảnh thực tế và vấn đề mà đề tài giải quyết.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đề tài làm được gì và dừng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ngắn vì sao chọn bộ công nghệ này: cùng ngôn ngữ, cộng đồng lớn, dễ tìm tài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ưu điểm tách biệt frontend và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nhóm chức năng chính dành cho người mua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Liệt kê các module quản trị và nghiệp vụ thống kê.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 hệ include: đặt hàng và gửi bình luận đều yêu cầu đăng nhập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Bảo mật được cân nhắc ngay từ khâu phân tích chứ không phải làm xong mới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cấu trúc dữ liệu tổng thể trước khi đi vào ERD.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file drawio để trình bày chi tiết nếu hội đồng hỏi sâu.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vì sao phải tách bảng variants thay vì để tồn kho trong bảng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Sitemap cho thấy ranh giới rõ giữa khu vực người mua và khu vực quản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thể mở web thật để minh họa nếu còn thời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rõ phần quản trị nội dung trang chủ chưa hoàn thiện để chủ động trước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trực tiếp trên máy, chuẩn bị sẵn tài khoản và sản phẩm còn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webhook cần máy chủ công khai, nên nhóm viết thêm chế độ giả lập để kiểm thử.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Kiểm lỗi làm ở cả hai phía nên dữ liệu vào cơ sở dữ liệu luôn hợp lệ.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hiện tại mới chạy demo cục bộ và lý do chưa đưa lên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Thẳng thắn nhìn nhận hạn chế, đây là điểm hội đồng thường đánh giá cao.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phần trình bày, mời hội đồng đặt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1371600"/>
            <a:ext cx="8229600" cy="274320"/>
          </a:xfrm>
          <a:prstGeom prst="rect">
            <a:avLst/>
          </a:prstGeom>
          <a:noFill/>
          <a:ln/>
        </p:spPr>
        <p:txBody>
          <a:bodyPr wrap="square" lIns="0" tIns="0" rIns="0" bIns="0" rtlCol="0" anchor="ctr"/>
          <a:lstStyle/>
          <a:p>
            <a:pPr indent="0" marL="0">
              <a:buNone/>
            </a:pPr>
            <a:r>
              <a:rPr lang="en-US" sz="1200" spc="300" kern="0" dirty="0">
                <a:solidFill>
                  <a:srgbClr val="A9A399"/>
                </a:solidFill>
                <a:latin typeface="Calibri" pitchFamily="34" charset="0"/>
                <a:ea typeface="Calibri" pitchFamily="34" charset="-122"/>
                <a:cs typeface="Calibri" pitchFamily="34" charset="-120"/>
              </a:rPr>
              <a:t>ĐỒ ÁN TỐT NGHIỆP · PRO2241.02</a:t>
            </a:r>
            <a:endParaRPr lang="en-US" sz="1200" dirty="0"/>
          </a:p>
        </p:txBody>
      </p:sp>
      <p:sp>
        <p:nvSpPr>
          <p:cNvPr id="3" name="Text 1"/>
          <p:cNvSpPr/>
          <p:nvPr/>
        </p:nvSpPr>
        <p:spPr>
          <a:xfrm>
            <a:off x="822960" y="1874520"/>
            <a:ext cx="8778240" cy="1737360"/>
          </a:xfrm>
          <a:prstGeom prst="rect">
            <a:avLst/>
          </a:prstGeom>
          <a:noFill/>
          <a:ln/>
        </p:spPr>
        <p:txBody>
          <a:bodyPr wrap="square" lIns="0" tIns="0" rIns="0" bIns="0" rtlCol="0" anchor="ctr"/>
          <a:lstStyle/>
          <a:p>
            <a:pPr indent="0" marL="0">
              <a:lnSpc>
                <a:spcPts val="5000"/>
              </a:lnSpc>
              <a:buNone/>
            </a:pPr>
            <a:r>
              <a:rPr lang="en-US" sz="4200" b="1" dirty="0">
                <a:solidFill>
                  <a:srgbClr val="FFFFFF"/>
                </a:solidFill>
                <a:latin typeface="Cambria" pitchFamily="34" charset="0"/>
                <a:ea typeface="Cambria" pitchFamily="34" charset="-122"/>
                <a:cs typeface="Cambria" pitchFamily="34" charset="-120"/>
              </a:rPr>
              <a:t>Xây dựng website</a:t>
            </a:r>
            <a:endParaRPr lang="en-US" sz="4200" dirty="0"/>
          </a:p>
          <a:p>
            <a:pPr indent="0" marL="0">
              <a:lnSpc>
                <a:spcPts val="5000"/>
              </a:lnSpc>
              <a:buNone/>
            </a:pPr>
            <a:r>
              <a:rPr lang="en-US" sz="4200" b="1" dirty="0">
                <a:solidFill>
                  <a:srgbClr val="FFFFFF"/>
                </a:solidFill>
                <a:latin typeface="Cambria" pitchFamily="34" charset="0"/>
                <a:ea typeface="Cambria" pitchFamily="34" charset="-122"/>
                <a:cs typeface="Cambria" pitchFamily="34" charset="-120"/>
              </a:rPr>
              <a:t>bán quần áo Hoàng Nha</a:t>
            </a:r>
            <a:endParaRPr lang="en-US" sz="4200" dirty="0"/>
          </a:p>
        </p:txBody>
      </p:sp>
      <p:sp>
        <p:nvSpPr>
          <p:cNvPr id="4" name="Text 2"/>
          <p:cNvSpPr/>
          <p:nvPr/>
        </p:nvSpPr>
        <p:spPr>
          <a:xfrm>
            <a:off x="822960" y="3611880"/>
            <a:ext cx="8778240" cy="365760"/>
          </a:xfrm>
          <a:prstGeom prst="rect">
            <a:avLst/>
          </a:prstGeom>
          <a:noFill/>
          <a:ln/>
        </p:spPr>
        <p:txBody>
          <a:bodyPr wrap="square" lIns="0" tIns="0" rIns="0" bIns="0" rtlCol="0" anchor="ctr"/>
          <a:lstStyle/>
          <a:p>
            <a:pPr indent="0" marL="0">
              <a:buNone/>
            </a:pPr>
            <a:r>
              <a:rPr lang="en-US" sz="1400" i="1" dirty="0">
                <a:solidFill>
                  <a:srgbClr val="A9A399"/>
                </a:solidFill>
                <a:latin typeface="Calibri" pitchFamily="34" charset="0"/>
                <a:ea typeface="Calibri" pitchFamily="34" charset="-122"/>
                <a:cs typeface="Calibri" pitchFamily="34" charset="-120"/>
              </a:rPr>
              <a:t>Hoang Nha clothing e-commerce website development</a:t>
            </a:r>
            <a:endParaRPr lang="en-US" sz="1400" dirty="0"/>
          </a:p>
        </p:txBody>
      </p:sp>
      <p:sp>
        <p:nvSpPr>
          <p:cNvPr id="5" name="Text 3"/>
          <p:cNvSpPr/>
          <p:nvPr/>
        </p:nvSpPr>
        <p:spPr>
          <a:xfrm>
            <a:off x="822960" y="4480560"/>
            <a:ext cx="3291840" cy="822960"/>
          </a:xfrm>
          <a:prstGeom prst="rect">
            <a:avLst/>
          </a:prstGeom>
          <a:noFill/>
          <a:ln/>
        </p:spPr>
        <p:txBody>
          <a:bodyPr wrap="square" lIns="0" tIns="0" rIns="0" bIns="0" rtlCol="0" anchor="ctr"/>
          <a:lstStyle/>
          <a:p>
            <a:pPr indent="0" marL="0">
              <a:lnSpc>
                <a:spcPts val="2200"/>
              </a:lnSpc>
              <a:buNone/>
            </a:pPr>
            <a:r>
              <a:rPr lang="en-US" sz="1100" dirty="0">
                <a:solidFill>
                  <a:srgbClr val="A9A399"/>
                </a:solidFill>
                <a:latin typeface="Calibri" pitchFamily="34" charset="0"/>
                <a:ea typeface="Calibri" pitchFamily="34" charset="-122"/>
                <a:cs typeface="Calibri" pitchFamily="34" charset="-120"/>
              </a:rPr>
              <a:t>Giảng viên hướng dẫn</a:t>
            </a:r>
            <a:endParaRPr lang="en-US" sz="1100" dirty="0"/>
          </a:p>
          <a:p>
            <a:pPr indent="0" marL="0">
              <a:lnSpc>
                <a:spcPts val="2200"/>
              </a:lnSpc>
              <a:buNone/>
            </a:pPr>
            <a:r>
              <a:rPr lang="en-US" sz="1500" b="1" dirty="0">
                <a:solidFill>
                  <a:srgbClr val="FFFFFF"/>
                </a:solidFill>
                <a:latin typeface="Calibri" pitchFamily="34" charset="0"/>
                <a:ea typeface="Calibri" pitchFamily="34" charset="-122"/>
                <a:cs typeface="Calibri" pitchFamily="34" charset="-120"/>
              </a:rPr>
              <a:t>Phạm Ngọc Cường</a:t>
            </a:r>
            <a:endParaRPr lang="en-US" sz="1100" dirty="0"/>
          </a:p>
        </p:txBody>
      </p:sp>
      <p:sp>
        <p:nvSpPr>
          <p:cNvPr id="6" name="Text 4"/>
          <p:cNvSpPr/>
          <p:nvPr/>
        </p:nvSpPr>
        <p:spPr>
          <a:xfrm>
            <a:off x="4754880" y="4480560"/>
            <a:ext cx="4572000" cy="1554480"/>
          </a:xfrm>
          <a:prstGeom prst="rect">
            <a:avLst/>
          </a:prstGeom>
          <a:noFill/>
          <a:ln/>
        </p:spPr>
        <p:txBody>
          <a:bodyPr wrap="square" lIns="0" tIns="0" rIns="0" bIns="0" rtlCol="0" anchor="ctr"/>
          <a:lstStyle/>
          <a:p>
            <a:pPr indent="0" marL="0">
              <a:lnSpc>
                <a:spcPts val="2000"/>
              </a:lnSpc>
              <a:buNone/>
            </a:pPr>
            <a:r>
              <a:rPr lang="en-US" sz="1100" dirty="0">
                <a:solidFill>
                  <a:srgbClr val="A9A399"/>
                </a:solidFill>
                <a:latin typeface="Calibri" pitchFamily="34" charset="0"/>
                <a:ea typeface="Calibri" pitchFamily="34" charset="-122"/>
                <a:cs typeface="Calibri" pitchFamily="34" charset="-120"/>
              </a:rPr>
              <a:t>Nhóm sinh viên thực hiện</a:t>
            </a:r>
            <a:endParaRPr lang="en-US" sz="1100" dirty="0"/>
          </a:p>
          <a:p>
            <a:pPr indent="0" marL="0">
              <a:lnSpc>
                <a:spcPts val="2000"/>
              </a:lnSpc>
              <a:buNone/>
            </a:pPr>
            <a:r>
              <a:rPr lang="en-US" sz="1300" dirty="0">
                <a:solidFill>
                  <a:srgbClr val="FFFFFF"/>
                </a:solidFill>
                <a:latin typeface="Calibri" pitchFamily="34" charset="0"/>
                <a:ea typeface="Calibri" pitchFamily="34" charset="-122"/>
                <a:cs typeface="Calibri" pitchFamily="34" charset="-120"/>
              </a:rPr>
              <a:t>PS45447  Trần Quốc Duy</a:t>
            </a:r>
            <a:endParaRPr lang="en-US" sz="1100" dirty="0"/>
          </a:p>
          <a:p>
            <a:pPr indent="0" marL="0">
              <a:lnSpc>
                <a:spcPts val="2000"/>
              </a:lnSpc>
              <a:buNone/>
            </a:pPr>
            <a:r>
              <a:rPr lang="en-US" sz="1300" dirty="0">
                <a:solidFill>
                  <a:srgbClr val="FFFFFF"/>
                </a:solidFill>
                <a:latin typeface="Calibri" pitchFamily="34" charset="0"/>
                <a:ea typeface="Calibri" pitchFamily="34" charset="-122"/>
                <a:cs typeface="Calibri" pitchFamily="34" charset="-120"/>
              </a:rPr>
              <a:t>PS47622  Trần Khánh Hoàng</a:t>
            </a:r>
            <a:endParaRPr lang="en-US" sz="1100" dirty="0"/>
          </a:p>
          <a:p>
            <a:pPr indent="0" marL="0">
              <a:lnSpc>
                <a:spcPts val="2000"/>
              </a:lnSpc>
              <a:buNone/>
            </a:pPr>
            <a:r>
              <a:rPr lang="en-US" sz="1300" dirty="0">
                <a:solidFill>
                  <a:srgbClr val="FFFFFF"/>
                </a:solidFill>
                <a:latin typeface="Calibri" pitchFamily="34" charset="0"/>
                <a:ea typeface="Calibri" pitchFamily="34" charset="-122"/>
                <a:cs typeface="Calibri" pitchFamily="34" charset="-120"/>
              </a:rPr>
              <a:t>PS45569  Hồ Gia Phúc</a:t>
            </a:r>
            <a:endParaRPr lang="en-US" sz="1100" dirty="0"/>
          </a:p>
          <a:p>
            <a:pPr indent="0" marL="0">
              <a:lnSpc>
                <a:spcPts val="2000"/>
              </a:lnSpc>
              <a:buNone/>
            </a:pPr>
            <a:r>
              <a:rPr lang="en-US" sz="1300" dirty="0">
                <a:solidFill>
                  <a:srgbClr val="FFFFFF"/>
                </a:solidFill>
                <a:latin typeface="Calibri" pitchFamily="34" charset="0"/>
                <a:ea typeface="Calibri" pitchFamily="34" charset="-122"/>
                <a:cs typeface="Calibri" pitchFamily="34" charset="-120"/>
              </a:rPr>
              <a:t>PS44028  Trần Kiêm Định</a:t>
            </a:r>
            <a:endParaRPr lang="en-US" sz="1100" dirty="0"/>
          </a:p>
        </p:txBody>
      </p:sp>
      <p:sp>
        <p:nvSpPr>
          <p:cNvPr id="7" name="Text 5"/>
          <p:cNvSpPr/>
          <p:nvPr/>
        </p:nvSpPr>
        <p:spPr>
          <a:xfrm>
            <a:off x="822960" y="6172200"/>
            <a:ext cx="5486400" cy="274320"/>
          </a:xfrm>
          <a:prstGeom prst="rect">
            <a:avLst/>
          </a:prstGeom>
          <a:noFill/>
          <a:ln/>
        </p:spPr>
        <p:txBody>
          <a:bodyPr wrap="square" lIns="0" tIns="0" rIns="0" bIns="0" rtlCol="0" anchor="ctr"/>
          <a:lstStyle/>
          <a:p>
            <a:pPr indent="0" marL="0">
              <a:buNone/>
            </a:pPr>
            <a:r>
              <a:rPr lang="en-US" sz="1100" dirty="0">
                <a:solidFill>
                  <a:srgbClr val="6E6A65"/>
                </a:solidFill>
                <a:latin typeface="Calibri" pitchFamily="34" charset="0"/>
                <a:ea typeface="Calibri" pitchFamily="34" charset="-122"/>
                <a:cs typeface="Calibri" pitchFamily="34" charset="-120"/>
              </a:rPr>
              <a:t>TP. Hồ Chí Minh — 2026</a:t>
            </a:r>
            <a:endParaRPr lang="en-US" sz="1100" dirty="0"/>
          </a:p>
        </p:txBody>
      </p:sp>
      <p:sp>
        <p:nvSpPr>
          <p:cNvPr id="8" name="Shape 6"/>
          <p:cNvSpPr/>
          <p:nvPr/>
        </p:nvSpPr>
        <p:spPr>
          <a:xfrm>
            <a:off x="11292840" y="6419088"/>
            <a:ext cx="82296" cy="82296"/>
          </a:xfrm>
          <a:prstGeom prst="rect">
            <a:avLst/>
          </a:prstGeom>
          <a:solidFill>
            <a:srgbClr val="EFE9D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TỔNG QUAN</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Nội dung trình bày và phân công</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01</a:t>
            </a:r>
            <a:endParaRPr lang="en-US" sz="1000" dirty="0"/>
          </a:p>
        </p:txBody>
      </p:sp>
      <p:sp>
        <p:nvSpPr>
          <p:cNvPr id="6" name="Shape 4"/>
          <p:cNvSpPr/>
          <p:nvPr/>
        </p:nvSpPr>
        <p:spPr>
          <a:xfrm>
            <a:off x="640080" y="2377440"/>
            <a:ext cx="2583180" cy="2286000"/>
          </a:xfrm>
          <a:prstGeom prst="rect">
            <a:avLst/>
          </a:prstGeom>
          <a:solidFill>
            <a:srgbClr val="EFE9DF"/>
          </a:solidFill>
          <a:ln/>
        </p:spPr>
      </p:sp>
      <p:sp>
        <p:nvSpPr>
          <p:cNvPr id="7" name="Shape 5"/>
          <p:cNvSpPr/>
          <p:nvPr/>
        </p:nvSpPr>
        <p:spPr>
          <a:xfrm>
            <a:off x="914400" y="2633472"/>
            <a:ext cx="384048" cy="384048"/>
          </a:xfrm>
          <a:prstGeom prst="ellipse">
            <a:avLst/>
          </a:prstGeom>
          <a:solidFill>
            <a:srgbClr val="1A1A1A"/>
          </a:solidFill>
          <a:ln/>
        </p:spPr>
      </p:sp>
      <p:sp>
        <p:nvSpPr>
          <p:cNvPr id="8" name="Text 6"/>
          <p:cNvSpPr/>
          <p:nvPr/>
        </p:nvSpPr>
        <p:spPr>
          <a:xfrm>
            <a:off x="914400" y="2633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914400" y="3127248"/>
            <a:ext cx="203454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Trần Quốc Duy</a:t>
            </a:r>
            <a:endParaRPr lang="en-US" sz="1500" dirty="0"/>
          </a:p>
        </p:txBody>
      </p:sp>
      <p:sp>
        <p:nvSpPr>
          <p:cNvPr id="10" name="Text 8"/>
          <p:cNvSpPr/>
          <p:nvPr/>
        </p:nvSpPr>
        <p:spPr>
          <a:xfrm>
            <a:off x="914400" y="3474720"/>
            <a:ext cx="2034540" cy="9144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Giới thiệu đề tài, mục tiêu,</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công nghệ và kiến trúc hệ thống</a:t>
            </a:r>
            <a:endParaRPr lang="en-US" sz="1250" dirty="0"/>
          </a:p>
        </p:txBody>
      </p:sp>
      <p:sp>
        <p:nvSpPr>
          <p:cNvPr id="11" name="Shape 9"/>
          <p:cNvSpPr/>
          <p:nvPr/>
        </p:nvSpPr>
        <p:spPr>
          <a:xfrm>
            <a:off x="3406140" y="2377440"/>
            <a:ext cx="2583180" cy="2286000"/>
          </a:xfrm>
          <a:prstGeom prst="rect">
            <a:avLst/>
          </a:prstGeom>
          <a:solidFill>
            <a:srgbClr val="EFE9DF"/>
          </a:solidFill>
          <a:ln/>
        </p:spPr>
      </p:sp>
      <p:sp>
        <p:nvSpPr>
          <p:cNvPr id="12" name="Shape 10"/>
          <p:cNvSpPr/>
          <p:nvPr/>
        </p:nvSpPr>
        <p:spPr>
          <a:xfrm>
            <a:off x="3680460" y="2633472"/>
            <a:ext cx="384048" cy="384048"/>
          </a:xfrm>
          <a:prstGeom prst="ellipse">
            <a:avLst/>
          </a:prstGeom>
          <a:solidFill>
            <a:srgbClr val="1A1A1A"/>
          </a:solidFill>
          <a:ln/>
        </p:spPr>
      </p:sp>
      <p:sp>
        <p:nvSpPr>
          <p:cNvPr id="13" name="Text 11"/>
          <p:cNvSpPr/>
          <p:nvPr/>
        </p:nvSpPr>
        <p:spPr>
          <a:xfrm>
            <a:off x="3680460" y="2633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3680460" y="3127248"/>
            <a:ext cx="203454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Trần Khánh Hoàng</a:t>
            </a:r>
            <a:endParaRPr lang="en-US" sz="1500" dirty="0"/>
          </a:p>
        </p:txBody>
      </p:sp>
      <p:sp>
        <p:nvSpPr>
          <p:cNvPr id="15" name="Text 13"/>
          <p:cNvSpPr/>
          <p:nvPr/>
        </p:nvSpPr>
        <p:spPr>
          <a:xfrm>
            <a:off x="3680460" y="3474720"/>
            <a:ext cx="2034540" cy="9144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Phân tích yêu cầu, sơ đồ use case</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và yêu cầu bảo mật</a:t>
            </a:r>
            <a:endParaRPr lang="en-US" sz="1250" dirty="0"/>
          </a:p>
        </p:txBody>
      </p:sp>
      <p:sp>
        <p:nvSpPr>
          <p:cNvPr id="16" name="Shape 14"/>
          <p:cNvSpPr/>
          <p:nvPr/>
        </p:nvSpPr>
        <p:spPr>
          <a:xfrm>
            <a:off x="6172200" y="2377440"/>
            <a:ext cx="2583180" cy="2286000"/>
          </a:xfrm>
          <a:prstGeom prst="rect">
            <a:avLst/>
          </a:prstGeom>
          <a:solidFill>
            <a:srgbClr val="EFE9DF"/>
          </a:solidFill>
          <a:ln/>
        </p:spPr>
      </p:sp>
      <p:sp>
        <p:nvSpPr>
          <p:cNvPr id="17" name="Shape 15"/>
          <p:cNvSpPr/>
          <p:nvPr/>
        </p:nvSpPr>
        <p:spPr>
          <a:xfrm>
            <a:off x="6446520" y="2633472"/>
            <a:ext cx="384048" cy="384048"/>
          </a:xfrm>
          <a:prstGeom prst="ellipse">
            <a:avLst/>
          </a:prstGeom>
          <a:solidFill>
            <a:srgbClr val="1A1A1A"/>
          </a:solidFill>
          <a:ln/>
        </p:spPr>
      </p:sp>
      <p:sp>
        <p:nvSpPr>
          <p:cNvPr id="18" name="Text 16"/>
          <p:cNvSpPr/>
          <p:nvPr/>
        </p:nvSpPr>
        <p:spPr>
          <a:xfrm>
            <a:off x="6446520" y="2633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9" name="Text 17"/>
          <p:cNvSpPr/>
          <p:nvPr/>
        </p:nvSpPr>
        <p:spPr>
          <a:xfrm>
            <a:off x="6446520" y="3127248"/>
            <a:ext cx="203454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Hồ Gia Phúc</a:t>
            </a:r>
            <a:endParaRPr lang="en-US" sz="1500" dirty="0"/>
          </a:p>
        </p:txBody>
      </p:sp>
      <p:sp>
        <p:nvSpPr>
          <p:cNvPr id="20" name="Text 18"/>
          <p:cNvSpPr/>
          <p:nvPr/>
        </p:nvSpPr>
        <p:spPr>
          <a:xfrm>
            <a:off x="6446520" y="3474720"/>
            <a:ext cx="2034540" cy="9144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Thiết kế cơ sở dữ liệu, sitemap</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và thiết kế giao diện</a:t>
            </a:r>
            <a:endParaRPr lang="en-US" sz="1250" dirty="0"/>
          </a:p>
        </p:txBody>
      </p:sp>
      <p:sp>
        <p:nvSpPr>
          <p:cNvPr id="21" name="Shape 19"/>
          <p:cNvSpPr/>
          <p:nvPr/>
        </p:nvSpPr>
        <p:spPr>
          <a:xfrm>
            <a:off x="8938260" y="2377440"/>
            <a:ext cx="2583180" cy="2286000"/>
          </a:xfrm>
          <a:prstGeom prst="rect">
            <a:avLst/>
          </a:prstGeom>
          <a:solidFill>
            <a:srgbClr val="EFE9DF"/>
          </a:solidFill>
          <a:ln/>
        </p:spPr>
      </p:sp>
      <p:sp>
        <p:nvSpPr>
          <p:cNvPr id="22" name="Shape 20"/>
          <p:cNvSpPr/>
          <p:nvPr/>
        </p:nvSpPr>
        <p:spPr>
          <a:xfrm>
            <a:off x="9212580" y="2633472"/>
            <a:ext cx="384048" cy="384048"/>
          </a:xfrm>
          <a:prstGeom prst="ellipse">
            <a:avLst/>
          </a:prstGeom>
          <a:solidFill>
            <a:srgbClr val="1A1A1A"/>
          </a:solidFill>
          <a:ln/>
        </p:spPr>
      </p:sp>
      <p:sp>
        <p:nvSpPr>
          <p:cNvPr id="23" name="Text 21"/>
          <p:cNvSpPr/>
          <p:nvPr/>
        </p:nvSpPr>
        <p:spPr>
          <a:xfrm>
            <a:off x="9212580" y="2633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4" name="Text 22"/>
          <p:cNvSpPr/>
          <p:nvPr/>
        </p:nvSpPr>
        <p:spPr>
          <a:xfrm>
            <a:off x="9212580" y="3127248"/>
            <a:ext cx="203454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Trần Kiêm Định</a:t>
            </a:r>
            <a:endParaRPr lang="en-US" sz="1500" dirty="0"/>
          </a:p>
        </p:txBody>
      </p:sp>
      <p:sp>
        <p:nvSpPr>
          <p:cNvPr id="25" name="Text 23"/>
          <p:cNvSpPr/>
          <p:nvPr/>
        </p:nvSpPr>
        <p:spPr>
          <a:xfrm>
            <a:off x="9212580" y="3474720"/>
            <a:ext cx="2034540" cy="9144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Demo sản phẩm, kiểm lỗi,</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triển khai và kết luận</a:t>
            </a:r>
            <a:endParaRPr lang="en-US" sz="1250" dirty="0"/>
          </a:p>
        </p:txBody>
      </p:sp>
      <p:sp>
        <p:nvSpPr>
          <p:cNvPr id="26" name="Text 24"/>
          <p:cNvSpPr/>
          <p:nvPr/>
        </p:nvSpPr>
        <p:spPr>
          <a:xfrm>
            <a:off x="640080" y="5074920"/>
            <a:ext cx="10881360" cy="365760"/>
          </a:xfrm>
          <a:prstGeom prst="rect">
            <a:avLst/>
          </a:prstGeom>
          <a:noFill/>
          <a:ln/>
        </p:spPr>
        <p:txBody>
          <a:bodyPr wrap="square" lIns="0" tIns="0" rIns="0" bIns="0" rtlCol="0" anchor="ctr"/>
          <a:lstStyle/>
          <a:p>
            <a:pPr indent="0" marL="0">
              <a:buNone/>
            </a:pPr>
            <a:r>
              <a:rPr lang="en-US" sz="1300" i="1" dirty="0">
                <a:solidFill>
                  <a:srgbClr val="6E6A65"/>
                </a:solidFill>
                <a:latin typeface="Calibri" pitchFamily="34" charset="0"/>
                <a:ea typeface="Calibri" pitchFamily="34" charset="-122"/>
                <a:cs typeface="Calibri" pitchFamily="34" charset="-120"/>
              </a:rPr>
              <a:t>Tổng thời lượng dự kiến 15–20 phút, phần demo sản phẩm chạy trực tiếp trên máy của nhóm.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2103120"/>
            <a:ext cx="3657600" cy="1280160"/>
          </a:xfrm>
          <a:prstGeom prst="rect">
            <a:avLst/>
          </a:prstGeom>
          <a:noFill/>
          <a:ln/>
        </p:spPr>
        <p:txBody>
          <a:bodyPr wrap="square" lIns="0" tIns="0" rIns="0" bIns="0" rtlCol="0" anchor="ctr"/>
          <a:lstStyle/>
          <a:p>
            <a:pPr indent="0" marL="0">
              <a:buNone/>
            </a:pPr>
            <a:r>
              <a:rPr lang="en-US" sz="6400" b="1" dirty="0">
                <a:solidFill>
                  <a:srgbClr val="3A3733"/>
                </a:solidFill>
                <a:latin typeface="Cambria" pitchFamily="34" charset="0"/>
                <a:ea typeface="Cambria" pitchFamily="34" charset="-122"/>
                <a:cs typeface="Cambria" pitchFamily="34" charset="-120"/>
              </a:rPr>
              <a:t>01</a:t>
            </a:r>
            <a:endParaRPr lang="en-US" sz="6400" dirty="0"/>
          </a:p>
        </p:txBody>
      </p:sp>
      <p:sp>
        <p:nvSpPr>
          <p:cNvPr id="3" name="Text 1"/>
          <p:cNvSpPr/>
          <p:nvPr/>
        </p:nvSpPr>
        <p:spPr>
          <a:xfrm>
            <a:off x="822960" y="3383280"/>
            <a:ext cx="64008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Trần Quốc Duy</a:t>
            </a:r>
            <a:endParaRPr lang="en-US" sz="3000" dirty="0"/>
          </a:p>
        </p:txBody>
      </p:sp>
      <p:sp>
        <p:nvSpPr>
          <p:cNvPr id="4" name="Text 2"/>
          <p:cNvSpPr/>
          <p:nvPr/>
        </p:nvSpPr>
        <p:spPr>
          <a:xfrm>
            <a:off x="822960" y="3977640"/>
            <a:ext cx="7772400" cy="457200"/>
          </a:xfrm>
          <a:prstGeom prst="rect">
            <a:avLst/>
          </a:prstGeom>
          <a:noFill/>
          <a:ln/>
        </p:spPr>
        <p:txBody>
          <a:bodyPr wrap="square" lIns="0" tIns="0" rIns="0" bIns="0" rtlCol="0" anchor="ctr"/>
          <a:lstStyle/>
          <a:p>
            <a:pPr indent="0" marL="0">
              <a:buNone/>
            </a:pPr>
            <a:r>
              <a:rPr lang="en-US" sz="1400" dirty="0">
                <a:solidFill>
                  <a:srgbClr val="A9A399"/>
                </a:solidFill>
                <a:latin typeface="Calibri" pitchFamily="34" charset="0"/>
                <a:ea typeface="Calibri" pitchFamily="34" charset="-122"/>
                <a:cs typeface="Calibri" pitchFamily="34" charset="-120"/>
              </a:rPr>
              <a:t>Giới thiệu đề tài · Mục tiêu · Công nghệ · Kiến trúc hệ thống</a:t>
            </a:r>
            <a:endParaRPr lang="en-US" sz="1400" dirty="0"/>
          </a:p>
        </p:txBody>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02</a:t>
            </a:r>
            <a:endParaRPr lang="en-US" sz="1000" dirty="0"/>
          </a:p>
        </p:txBody>
      </p:sp>
      <p:sp>
        <p:nvSpPr>
          <p:cNvPr id="6" name="Shape 4"/>
          <p:cNvSpPr/>
          <p:nvPr/>
        </p:nvSpPr>
        <p:spPr>
          <a:xfrm>
            <a:off x="11292840" y="6419088"/>
            <a:ext cx="82296" cy="82296"/>
          </a:xfrm>
          <a:prstGeom prst="rect">
            <a:avLst/>
          </a:prstGeom>
          <a:solidFill>
            <a:srgbClr val="EFE9DF"/>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1 · TRẦN QUỐC DUY</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Lý do chọn đề tài và hiện trạng</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03</a:t>
            </a:r>
            <a:endParaRPr lang="en-US" sz="1000" dirty="0"/>
          </a:p>
        </p:txBody>
      </p:sp>
      <p:sp>
        <p:nvSpPr>
          <p:cNvPr id="6" name="Shape 4"/>
          <p:cNvSpPr/>
          <p:nvPr/>
        </p:nvSpPr>
        <p:spPr>
          <a:xfrm>
            <a:off x="640080" y="2446020"/>
            <a:ext cx="5349240" cy="1371600"/>
          </a:xfrm>
          <a:prstGeom prst="rect">
            <a:avLst/>
          </a:prstGeom>
          <a:solidFill>
            <a:srgbClr val="EFE9DF"/>
          </a:solidFill>
          <a:ln/>
        </p:spPr>
      </p:sp>
      <p:sp>
        <p:nvSpPr>
          <p:cNvPr id="7" name="Text 5"/>
          <p:cNvSpPr/>
          <p:nvPr/>
        </p:nvSpPr>
        <p:spPr>
          <a:xfrm>
            <a:off x="914400" y="272034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Thị trường</a:t>
            </a:r>
            <a:endParaRPr lang="en-US" sz="1500" dirty="0"/>
          </a:p>
        </p:txBody>
      </p:sp>
      <p:sp>
        <p:nvSpPr>
          <p:cNvPr id="8" name="Text 6"/>
          <p:cNvSpPr/>
          <p:nvPr/>
        </p:nvSpPr>
        <p:spPr>
          <a:xfrm>
            <a:off x="914400" y="3067812"/>
            <a:ext cx="4800600" cy="4572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Nhu cầu mua quần áo trực tuyến tăng nhanh: khách muốn so sánh giá, xem mẫu mã và nhận hàng tận nơi.</a:t>
            </a:r>
            <a:endParaRPr lang="en-US" sz="1250" dirty="0"/>
          </a:p>
        </p:txBody>
      </p:sp>
      <p:sp>
        <p:nvSpPr>
          <p:cNvPr id="9" name="Shape 7"/>
          <p:cNvSpPr/>
          <p:nvPr/>
        </p:nvSpPr>
        <p:spPr>
          <a:xfrm>
            <a:off x="6172200" y="2446020"/>
            <a:ext cx="5349240" cy="1371600"/>
          </a:xfrm>
          <a:prstGeom prst="rect">
            <a:avLst/>
          </a:prstGeom>
          <a:solidFill>
            <a:srgbClr val="EFE9DF"/>
          </a:solidFill>
          <a:ln/>
        </p:spPr>
      </p:sp>
      <p:sp>
        <p:nvSpPr>
          <p:cNvPr id="10" name="Text 8"/>
          <p:cNvSpPr/>
          <p:nvPr/>
        </p:nvSpPr>
        <p:spPr>
          <a:xfrm>
            <a:off x="6446520" y="272034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Khoảng trống</a:t>
            </a:r>
            <a:endParaRPr lang="en-US" sz="1500" dirty="0"/>
          </a:p>
        </p:txBody>
      </p:sp>
      <p:sp>
        <p:nvSpPr>
          <p:cNvPr id="11" name="Text 9"/>
          <p:cNvSpPr/>
          <p:nvPr/>
        </p:nvSpPr>
        <p:spPr>
          <a:xfrm>
            <a:off x="6446520" y="3067812"/>
            <a:ext cx="4800600" cy="4572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Nhiều cửa hàng thời trang vẫn chưa có website bán hàng chuyên nghiệp, tiếp cận khách hàng còn hạn chế.</a:t>
            </a:r>
            <a:endParaRPr lang="en-US" sz="1250" dirty="0"/>
          </a:p>
        </p:txBody>
      </p:sp>
      <p:sp>
        <p:nvSpPr>
          <p:cNvPr id="12" name="Shape 10"/>
          <p:cNvSpPr/>
          <p:nvPr/>
        </p:nvSpPr>
        <p:spPr>
          <a:xfrm>
            <a:off x="640080" y="4000500"/>
            <a:ext cx="5349240" cy="1371600"/>
          </a:xfrm>
          <a:prstGeom prst="rect">
            <a:avLst/>
          </a:prstGeom>
          <a:solidFill>
            <a:srgbClr val="EFE9DF"/>
          </a:solidFill>
          <a:ln/>
        </p:spPr>
      </p:sp>
      <p:sp>
        <p:nvSpPr>
          <p:cNvPr id="13" name="Text 11"/>
          <p:cNvSpPr/>
          <p:nvPr/>
        </p:nvSpPr>
        <p:spPr>
          <a:xfrm>
            <a:off x="914400" y="427482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Vấn đề của shop Hoàng Nha</a:t>
            </a:r>
            <a:endParaRPr lang="en-US" sz="1500" dirty="0"/>
          </a:p>
        </p:txBody>
      </p:sp>
      <p:sp>
        <p:nvSpPr>
          <p:cNvPr id="14" name="Text 12"/>
          <p:cNvSpPr/>
          <p:nvPr/>
        </p:nvSpPr>
        <p:spPr>
          <a:xfrm>
            <a:off x="914400" y="4622292"/>
            <a:ext cx="4800600" cy="4572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Bán thủ công qua mạng xã hội nên khó theo dõi tồn kho theo màu và size, đơn hàng dễ nhầm lẫn.</a:t>
            </a:r>
            <a:endParaRPr lang="en-US" sz="1250" dirty="0"/>
          </a:p>
        </p:txBody>
      </p:sp>
      <p:sp>
        <p:nvSpPr>
          <p:cNvPr id="15" name="Shape 13"/>
          <p:cNvSpPr/>
          <p:nvPr/>
        </p:nvSpPr>
        <p:spPr>
          <a:xfrm>
            <a:off x="6172200" y="4000500"/>
            <a:ext cx="5349240" cy="1371600"/>
          </a:xfrm>
          <a:prstGeom prst="rect">
            <a:avLst/>
          </a:prstGeom>
          <a:solidFill>
            <a:srgbClr val="EFE9DF"/>
          </a:solidFill>
          <a:ln/>
        </p:spPr>
      </p:sp>
      <p:sp>
        <p:nvSpPr>
          <p:cNvPr id="16" name="Text 14"/>
          <p:cNvSpPr/>
          <p:nvPr/>
        </p:nvSpPr>
        <p:spPr>
          <a:xfrm>
            <a:off x="6446520" y="427482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Giải pháp đề xuất</a:t>
            </a:r>
            <a:endParaRPr lang="en-US" sz="1500" dirty="0"/>
          </a:p>
        </p:txBody>
      </p:sp>
      <p:sp>
        <p:nvSpPr>
          <p:cNvPr id="17" name="Text 15"/>
          <p:cNvSpPr/>
          <p:nvPr/>
        </p:nvSpPr>
        <p:spPr>
          <a:xfrm>
            <a:off x="6446520" y="4622292"/>
            <a:ext cx="4800600" cy="4572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Một nền tảng bán hàng trực tuyến hiện đại, phục vụ cả khách hàng lẫn công tác quản trị của cửa hàng.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1 · TRẦN QUỐC DUY</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Mục tiêu và phạm vi đề tài</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04</a:t>
            </a:r>
            <a:endParaRPr lang="en-US" sz="1000" dirty="0"/>
          </a:p>
        </p:txBody>
      </p:sp>
      <p:sp>
        <p:nvSpPr>
          <p:cNvPr id="6" name="Text 4"/>
          <p:cNvSpPr/>
          <p:nvPr/>
        </p:nvSpPr>
        <p:spPr>
          <a:xfrm>
            <a:off x="640080" y="1691640"/>
            <a:ext cx="10881360" cy="365760"/>
          </a:xfrm>
          <a:prstGeom prst="rect">
            <a:avLst/>
          </a:prstGeom>
          <a:noFill/>
          <a:ln/>
        </p:spPr>
        <p:txBody>
          <a:bodyPr wrap="square" lIns="0" tIns="0" rIns="0" bIns="0" rtlCol="0" anchor="ctr"/>
          <a:lstStyle/>
          <a:p>
            <a:pPr indent="0" marL="0">
              <a:buNone/>
            </a:pPr>
            <a:r>
              <a:rPr lang="en-US" sz="1500" i="1" dirty="0">
                <a:solidFill>
                  <a:srgbClr val="6E6A65"/>
                </a:solidFill>
                <a:latin typeface="Calibri" pitchFamily="34" charset="0"/>
                <a:ea typeface="Calibri" pitchFamily="34" charset="-122"/>
                <a:cs typeface="Calibri" pitchFamily="34" charset="-120"/>
              </a:rPr>
              <a:t>Xây dựng website thương mại điện tử hoàn chỉnh cho ngành hàng thời trang</a:t>
            </a:r>
            <a:endParaRPr lang="en-US" sz="1500" dirty="0"/>
          </a:p>
        </p:txBody>
      </p:sp>
      <p:sp>
        <p:nvSpPr>
          <p:cNvPr id="7" name="Shape 5"/>
          <p:cNvSpPr/>
          <p:nvPr/>
        </p:nvSpPr>
        <p:spPr>
          <a:xfrm>
            <a:off x="640080" y="2766060"/>
            <a:ext cx="3505200" cy="2286000"/>
          </a:xfrm>
          <a:prstGeom prst="rect">
            <a:avLst/>
          </a:prstGeom>
          <a:solidFill>
            <a:srgbClr val="EFE9DF"/>
          </a:solidFill>
          <a:ln/>
        </p:spPr>
      </p:sp>
      <p:sp>
        <p:nvSpPr>
          <p:cNvPr id="8" name="Shape 6"/>
          <p:cNvSpPr/>
          <p:nvPr/>
        </p:nvSpPr>
        <p:spPr>
          <a:xfrm>
            <a:off x="914400" y="3022092"/>
            <a:ext cx="384048" cy="384048"/>
          </a:xfrm>
          <a:prstGeom prst="ellipse">
            <a:avLst/>
          </a:prstGeom>
          <a:solidFill>
            <a:srgbClr val="1A1A1A"/>
          </a:solidFill>
          <a:ln/>
        </p:spPr>
      </p:sp>
      <p:sp>
        <p:nvSpPr>
          <p:cNvPr id="9" name="Text 7"/>
          <p:cNvSpPr/>
          <p:nvPr/>
        </p:nvSpPr>
        <p:spPr>
          <a:xfrm>
            <a:off x="914400" y="30220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0" name="Text 8"/>
          <p:cNvSpPr/>
          <p:nvPr/>
        </p:nvSpPr>
        <p:spPr>
          <a:xfrm>
            <a:off x="914400" y="3515868"/>
            <a:ext cx="295656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Phía khách hàng</a:t>
            </a:r>
            <a:endParaRPr lang="en-US" sz="1500" dirty="0"/>
          </a:p>
        </p:txBody>
      </p:sp>
      <p:sp>
        <p:nvSpPr>
          <p:cNvPr id="11" name="Text 9"/>
          <p:cNvSpPr/>
          <p:nvPr/>
        </p:nvSpPr>
        <p:spPr>
          <a:xfrm>
            <a:off x="914400" y="3863340"/>
            <a:ext cx="2956560" cy="9144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Xem và tìm kiếm sản phẩm, chọn biến thể màu — size, giỏ hàng, đặt hàng, đánh giá và theo dõi đơn hàng.</a:t>
            </a:r>
            <a:endParaRPr lang="en-US" sz="1250" dirty="0"/>
          </a:p>
        </p:txBody>
      </p:sp>
      <p:sp>
        <p:nvSpPr>
          <p:cNvPr id="12" name="Shape 10"/>
          <p:cNvSpPr/>
          <p:nvPr/>
        </p:nvSpPr>
        <p:spPr>
          <a:xfrm>
            <a:off x="4328160" y="2766060"/>
            <a:ext cx="3505200" cy="2286000"/>
          </a:xfrm>
          <a:prstGeom prst="rect">
            <a:avLst/>
          </a:prstGeom>
          <a:solidFill>
            <a:srgbClr val="EFE9DF"/>
          </a:solidFill>
          <a:ln/>
        </p:spPr>
      </p:sp>
      <p:sp>
        <p:nvSpPr>
          <p:cNvPr id="13" name="Shape 11"/>
          <p:cNvSpPr/>
          <p:nvPr/>
        </p:nvSpPr>
        <p:spPr>
          <a:xfrm>
            <a:off x="4602480" y="3022092"/>
            <a:ext cx="384048" cy="384048"/>
          </a:xfrm>
          <a:prstGeom prst="ellipse">
            <a:avLst/>
          </a:prstGeom>
          <a:solidFill>
            <a:srgbClr val="1A1A1A"/>
          </a:solidFill>
          <a:ln/>
        </p:spPr>
      </p:sp>
      <p:sp>
        <p:nvSpPr>
          <p:cNvPr id="14" name="Text 12"/>
          <p:cNvSpPr/>
          <p:nvPr/>
        </p:nvSpPr>
        <p:spPr>
          <a:xfrm>
            <a:off x="4602480" y="30220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5" name="Text 13"/>
          <p:cNvSpPr/>
          <p:nvPr/>
        </p:nvSpPr>
        <p:spPr>
          <a:xfrm>
            <a:off x="4602480" y="3515868"/>
            <a:ext cx="295656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Phía quản trị</a:t>
            </a:r>
            <a:endParaRPr lang="en-US" sz="1500" dirty="0"/>
          </a:p>
        </p:txBody>
      </p:sp>
      <p:sp>
        <p:nvSpPr>
          <p:cNvPr id="16" name="Text 14"/>
          <p:cNvSpPr/>
          <p:nvPr/>
        </p:nvSpPr>
        <p:spPr>
          <a:xfrm>
            <a:off x="4602480" y="3863340"/>
            <a:ext cx="2956560" cy="9144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Quản lý sản phẩm, danh mục, khách hàng, đơn hàng, bình luận, voucher, banner và thống kê hàng hóa.</a:t>
            </a:r>
            <a:endParaRPr lang="en-US" sz="1250" dirty="0"/>
          </a:p>
        </p:txBody>
      </p:sp>
      <p:sp>
        <p:nvSpPr>
          <p:cNvPr id="17" name="Shape 15"/>
          <p:cNvSpPr/>
          <p:nvPr/>
        </p:nvSpPr>
        <p:spPr>
          <a:xfrm>
            <a:off x="8016240" y="2766060"/>
            <a:ext cx="3505200" cy="2286000"/>
          </a:xfrm>
          <a:prstGeom prst="rect">
            <a:avLst/>
          </a:prstGeom>
          <a:solidFill>
            <a:srgbClr val="EFE9DF"/>
          </a:solidFill>
          <a:ln/>
        </p:spPr>
      </p:sp>
      <p:sp>
        <p:nvSpPr>
          <p:cNvPr id="18" name="Shape 16"/>
          <p:cNvSpPr/>
          <p:nvPr/>
        </p:nvSpPr>
        <p:spPr>
          <a:xfrm>
            <a:off x="8290560" y="3022092"/>
            <a:ext cx="384048" cy="384048"/>
          </a:xfrm>
          <a:prstGeom prst="ellipse">
            <a:avLst/>
          </a:prstGeom>
          <a:solidFill>
            <a:srgbClr val="1A1A1A"/>
          </a:solidFill>
          <a:ln/>
        </p:spPr>
      </p:sp>
      <p:sp>
        <p:nvSpPr>
          <p:cNvPr id="19" name="Text 17"/>
          <p:cNvSpPr/>
          <p:nvPr/>
        </p:nvSpPr>
        <p:spPr>
          <a:xfrm>
            <a:off x="8290560" y="30220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p:nvPr/>
        </p:nvSpPr>
        <p:spPr>
          <a:xfrm>
            <a:off x="8290560" y="3515868"/>
            <a:ext cx="295656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Phạm vi bàn giao</a:t>
            </a:r>
            <a:endParaRPr lang="en-US" sz="1500" dirty="0"/>
          </a:p>
        </p:txBody>
      </p:sp>
      <p:sp>
        <p:nvSpPr>
          <p:cNvPr id="21" name="Text 19"/>
          <p:cNvSpPr/>
          <p:nvPr/>
        </p:nvSpPr>
        <p:spPr>
          <a:xfrm>
            <a:off x="8290560" y="3863340"/>
            <a:ext cx="2956560" cy="9144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Website chạy trên trình duyệt, thanh toán COD và chuyển khoản QR; bàn giao mã nguồn monorepo kèm cơ sở dữ liệu mẫu.</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1 · TRẦN QUỐC DUY</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Công nghệ sử dụng</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05</a:t>
            </a:r>
            <a:endParaRPr lang="en-US" sz="1000" dirty="0"/>
          </a:p>
        </p:txBody>
      </p:sp>
      <p:sp>
        <p:nvSpPr>
          <p:cNvPr id="6" name="Text 4"/>
          <p:cNvSpPr/>
          <p:nvPr/>
        </p:nvSpPr>
        <p:spPr>
          <a:xfrm>
            <a:off x="640080" y="1691640"/>
            <a:ext cx="10881360" cy="365760"/>
          </a:xfrm>
          <a:prstGeom prst="rect">
            <a:avLst/>
          </a:prstGeom>
          <a:noFill/>
          <a:ln/>
        </p:spPr>
        <p:txBody>
          <a:bodyPr wrap="square" lIns="0" tIns="0" rIns="0" bIns="0" rtlCol="0" anchor="ctr"/>
          <a:lstStyle/>
          <a:p>
            <a:pPr indent="0" marL="0">
              <a:buNone/>
            </a:pPr>
            <a:r>
              <a:rPr lang="en-US" sz="1400" i="1" dirty="0">
                <a:solidFill>
                  <a:srgbClr val="6E6A65"/>
                </a:solidFill>
                <a:latin typeface="Calibri" pitchFamily="34" charset="0"/>
                <a:ea typeface="Calibri" pitchFamily="34" charset="-122"/>
                <a:cs typeface="Calibri" pitchFamily="34" charset="-120"/>
              </a:rPr>
              <a:t>Cả hai phía cùng dùng ngôn ngữ TypeScript nên nhóm tái sử dụng được kiểu dữ liệu chung.</a:t>
            </a:r>
            <a:endParaRPr lang="en-US" sz="1400" dirty="0"/>
          </a:p>
        </p:txBody>
      </p:sp>
      <p:sp>
        <p:nvSpPr>
          <p:cNvPr id="7" name="Shape 5"/>
          <p:cNvSpPr/>
          <p:nvPr/>
        </p:nvSpPr>
        <p:spPr>
          <a:xfrm>
            <a:off x="640080" y="2423160"/>
            <a:ext cx="2583180" cy="1591056"/>
          </a:xfrm>
          <a:prstGeom prst="rect">
            <a:avLst/>
          </a:prstGeom>
          <a:solidFill>
            <a:srgbClr val="EFE9DF"/>
          </a:solidFill>
          <a:ln/>
        </p:spPr>
      </p:sp>
      <p:sp>
        <p:nvSpPr>
          <p:cNvPr id="8" name="Text 6"/>
          <p:cNvSpPr/>
          <p:nvPr/>
        </p:nvSpPr>
        <p:spPr>
          <a:xfrm>
            <a:off x="914400" y="2697480"/>
            <a:ext cx="203454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Front-end</a:t>
            </a:r>
            <a:endParaRPr lang="en-US" sz="1500" dirty="0"/>
          </a:p>
        </p:txBody>
      </p:sp>
      <p:sp>
        <p:nvSpPr>
          <p:cNvPr id="9" name="Text 7"/>
          <p:cNvSpPr/>
          <p:nvPr/>
        </p:nvSpPr>
        <p:spPr>
          <a:xfrm>
            <a:off x="914400" y="3044952"/>
            <a:ext cx="2034540" cy="676656"/>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React 19 · TypeScript</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TailwindCSS v4 · Vite</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React Router</a:t>
            </a:r>
            <a:endParaRPr lang="en-US" sz="1250" dirty="0"/>
          </a:p>
        </p:txBody>
      </p:sp>
      <p:sp>
        <p:nvSpPr>
          <p:cNvPr id="10" name="Shape 8"/>
          <p:cNvSpPr/>
          <p:nvPr/>
        </p:nvSpPr>
        <p:spPr>
          <a:xfrm>
            <a:off x="3406140" y="2423160"/>
            <a:ext cx="2583180" cy="1591056"/>
          </a:xfrm>
          <a:prstGeom prst="rect">
            <a:avLst/>
          </a:prstGeom>
          <a:solidFill>
            <a:srgbClr val="EFE9DF"/>
          </a:solidFill>
          <a:ln/>
        </p:spPr>
      </p:sp>
      <p:sp>
        <p:nvSpPr>
          <p:cNvPr id="11" name="Text 9"/>
          <p:cNvSpPr/>
          <p:nvPr/>
        </p:nvSpPr>
        <p:spPr>
          <a:xfrm>
            <a:off x="3680460" y="2697480"/>
            <a:ext cx="203454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Back-end</a:t>
            </a:r>
            <a:endParaRPr lang="en-US" sz="1500" dirty="0"/>
          </a:p>
        </p:txBody>
      </p:sp>
      <p:sp>
        <p:nvSpPr>
          <p:cNvPr id="12" name="Text 10"/>
          <p:cNvSpPr/>
          <p:nvPr/>
        </p:nvSpPr>
        <p:spPr>
          <a:xfrm>
            <a:off x="3680460" y="3044952"/>
            <a:ext cx="2034540" cy="676656"/>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Node.js · Express</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TypeScript · Prisma ORM</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RESTful API</a:t>
            </a:r>
            <a:endParaRPr lang="en-US" sz="1250" dirty="0"/>
          </a:p>
        </p:txBody>
      </p:sp>
      <p:sp>
        <p:nvSpPr>
          <p:cNvPr id="13" name="Shape 11"/>
          <p:cNvSpPr/>
          <p:nvPr/>
        </p:nvSpPr>
        <p:spPr>
          <a:xfrm>
            <a:off x="6172200" y="2423160"/>
            <a:ext cx="2583180" cy="1591056"/>
          </a:xfrm>
          <a:prstGeom prst="rect">
            <a:avLst/>
          </a:prstGeom>
          <a:solidFill>
            <a:srgbClr val="EFE9DF"/>
          </a:solidFill>
          <a:ln/>
        </p:spPr>
      </p:sp>
      <p:sp>
        <p:nvSpPr>
          <p:cNvPr id="14" name="Text 12"/>
          <p:cNvSpPr/>
          <p:nvPr/>
        </p:nvSpPr>
        <p:spPr>
          <a:xfrm>
            <a:off x="6446520" y="2697480"/>
            <a:ext cx="203454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Cơ sở dữ liệu</a:t>
            </a:r>
            <a:endParaRPr lang="en-US" sz="1500" dirty="0"/>
          </a:p>
        </p:txBody>
      </p:sp>
      <p:sp>
        <p:nvSpPr>
          <p:cNvPr id="15" name="Text 13"/>
          <p:cNvSpPr/>
          <p:nvPr/>
        </p:nvSpPr>
        <p:spPr>
          <a:xfrm>
            <a:off x="6446520" y="3044952"/>
            <a:ext cx="2034540" cy="676656"/>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MySQL 8 trên XAMPP</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hoangnha_fashion</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13 bảng, utf8mb4</a:t>
            </a:r>
            <a:endParaRPr lang="en-US" sz="1250" dirty="0"/>
          </a:p>
        </p:txBody>
      </p:sp>
      <p:sp>
        <p:nvSpPr>
          <p:cNvPr id="16" name="Shape 14"/>
          <p:cNvSpPr/>
          <p:nvPr/>
        </p:nvSpPr>
        <p:spPr>
          <a:xfrm>
            <a:off x="8938260" y="2423160"/>
            <a:ext cx="2583180" cy="1591056"/>
          </a:xfrm>
          <a:prstGeom prst="rect">
            <a:avLst/>
          </a:prstGeom>
          <a:solidFill>
            <a:srgbClr val="EFE9DF"/>
          </a:solidFill>
          <a:ln/>
        </p:spPr>
      </p:sp>
      <p:sp>
        <p:nvSpPr>
          <p:cNvPr id="17" name="Text 15"/>
          <p:cNvSpPr/>
          <p:nvPr/>
        </p:nvSpPr>
        <p:spPr>
          <a:xfrm>
            <a:off x="9212580" y="2697480"/>
            <a:ext cx="203454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Dịch vụ đi kèm</a:t>
            </a:r>
            <a:endParaRPr lang="en-US" sz="1500" dirty="0"/>
          </a:p>
        </p:txBody>
      </p:sp>
      <p:sp>
        <p:nvSpPr>
          <p:cNvPr id="18" name="Text 16"/>
          <p:cNvSpPr/>
          <p:nvPr/>
        </p:nvSpPr>
        <p:spPr>
          <a:xfrm>
            <a:off x="9212580" y="3044952"/>
            <a:ext cx="2034540" cy="676656"/>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Xác thực JWT</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Thanh toán SePay</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Git và GitHub</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1 · TRẦN QUỐC DUY</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Kiến trúc hệ thống Client — Server</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06</a:t>
            </a:r>
            <a:endParaRPr lang="en-US" sz="1000" dirty="0"/>
          </a:p>
        </p:txBody>
      </p:sp>
      <p:sp>
        <p:nvSpPr>
          <p:cNvPr id="6" name="Shape 4"/>
          <p:cNvSpPr/>
          <p:nvPr/>
        </p:nvSpPr>
        <p:spPr>
          <a:xfrm>
            <a:off x="640080" y="2148840"/>
            <a:ext cx="2404872" cy="1691640"/>
          </a:xfrm>
          <a:prstGeom prst="rect">
            <a:avLst/>
          </a:prstGeom>
          <a:solidFill>
            <a:srgbClr val="DED5C7"/>
          </a:solidFill>
          <a:ln/>
        </p:spPr>
      </p:sp>
      <p:sp>
        <p:nvSpPr>
          <p:cNvPr id="7" name="Text 5"/>
          <p:cNvSpPr/>
          <p:nvPr/>
        </p:nvSpPr>
        <p:spPr>
          <a:xfrm>
            <a:off x="868680" y="2377440"/>
            <a:ext cx="1947672" cy="32004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Client</a:t>
            </a:r>
            <a:endParaRPr lang="en-US" sz="1500" dirty="0"/>
          </a:p>
        </p:txBody>
      </p:sp>
      <p:sp>
        <p:nvSpPr>
          <p:cNvPr id="8" name="Text 6"/>
          <p:cNvSpPr/>
          <p:nvPr/>
        </p:nvSpPr>
        <p:spPr>
          <a:xfrm>
            <a:off x="868680" y="2743200"/>
            <a:ext cx="1947672" cy="914400"/>
          </a:xfrm>
          <a:prstGeom prst="rect">
            <a:avLst/>
          </a:prstGeom>
          <a:noFill/>
          <a:ln/>
        </p:spPr>
        <p:txBody>
          <a:bodyPr wrap="square" lIns="0" tIns="0" rIns="0" bIns="0" rtlCol="0" anchor="ctr"/>
          <a:lstStyle/>
          <a:p>
            <a:pPr indent="0" marL="0">
              <a:lnSpc>
                <a:spcPts val="1600"/>
              </a:lnSpc>
              <a:buNone/>
            </a:pPr>
            <a:r>
              <a:rPr lang="en-US" sz="1200" dirty="0">
                <a:solidFill>
                  <a:srgbClr val="6E6A65"/>
                </a:solidFill>
                <a:latin typeface="Calibri" pitchFamily="34" charset="0"/>
                <a:ea typeface="Calibri" pitchFamily="34" charset="-122"/>
                <a:cs typeface="Calibri" pitchFamily="34" charset="-120"/>
              </a:rPr>
              <a:t>SPA React</a:t>
            </a:r>
            <a:endParaRPr lang="en-US" sz="1200" dirty="0"/>
          </a:p>
          <a:p>
            <a:pPr indent="0" marL="0">
              <a:lnSpc>
                <a:spcPts val="1600"/>
              </a:lnSpc>
              <a:buNone/>
            </a:pPr>
            <a:r>
              <a:rPr lang="en-US" sz="1200" dirty="0">
                <a:solidFill>
                  <a:srgbClr val="6E6A65"/>
                </a:solidFill>
                <a:latin typeface="Calibri" pitchFamily="34" charset="0"/>
                <a:ea typeface="Calibri" pitchFamily="34" charset="-122"/>
                <a:cs typeface="Calibri" pitchFamily="34" charset="-120"/>
              </a:rPr>
              <a:t>localhost:5173</a:t>
            </a:r>
            <a:endParaRPr lang="en-US" sz="1200" dirty="0"/>
          </a:p>
        </p:txBody>
      </p:sp>
      <p:sp>
        <p:nvSpPr>
          <p:cNvPr id="9" name="Text 7"/>
          <p:cNvSpPr/>
          <p:nvPr/>
        </p:nvSpPr>
        <p:spPr>
          <a:xfrm>
            <a:off x="3044952" y="2743200"/>
            <a:ext cx="457200" cy="365760"/>
          </a:xfrm>
          <a:prstGeom prst="rect">
            <a:avLst/>
          </a:prstGeom>
          <a:noFill/>
          <a:ln/>
        </p:spPr>
        <p:txBody>
          <a:bodyPr wrap="square" lIns="0" tIns="0" rIns="0" bIns="0" rtlCol="0" anchor="ctr"/>
          <a:lstStyle/>
          <a:p>
            <a:pPr algn="ctr" indent="0" marL="0">
              <a:buNone/>
            </a:pPr>
            <a:r>
              <a:rPr lang="en-US" sz="2000" dirty="0">
                <a:solidFill>
                  <a:srgbClr val="1A1A1A"/>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502152" y="2148840"/>
            <a:ext cx="2404872" cy="1691640"/>
          </a:xfrm>
          <a:prstGeom prst="rect">
            <a:avLst/>
          </a:prstGeom>
          <a:solidFill>
            <a:srgbClr val="EFE9DF"/>
          </a:solidFill>
          <a:ln/>
        </p:spPr>
      </p:sp>
      <p:sp>
        <p:nvSpPr>
          <p:cNvPr id="11" name="Text 9"/>
          <p:cNvSpPr/>
          <p:nvPr/>
        </p:nvSpPr>
        <p:spPr>
          <a:xfrm>
            <a:off x="3730752" y="2377440"/>
            <a:ext cx="1947672" cy="32004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API Server</a:t>
            </a:r>
            <a:endParaRPr lang="en-US" sz="1500" dirty="0"/>
          </a:p>
        </p:txBody>
      </p:sp>
      <p:sp>
        <p:nvSpPr>
          <p:cNvPr id="12" name="Text 10"/>
          <p:cNvSpPr/>
          <p:nvPr/>
        </p:nvSpPr>
        <p:spPr>
          <a:xfrm>
            <a:off x="3730752" y="2743200"/>
            <a:ext cx="1947672" cy="914400"/>
          </a:xfrm>
          <a:prstGeom prst="rect">
            <a:avLst/>
          </a:prstGeom>
          <a:noFill/>
          <a:ln/>
        </p:spPr>
        <p:txBody>
          <a:bodyPr wrap="square" lIns="0" tIns="0" rIns="0" bIns="0" rtlCol="0" anchor="ctr"/>
          <a:lstStyle/>
          <a:p>
            <a:pPr indent="0" marL="0">
              <a:lnSpc>
                <a:spcPts val="1600"/>
              </a:lnSpc>
              <a:buNone/>
            </a:pPr>
            <a:r>
              <a:rPr lang="en-US" sz="1200" dirty="0">
                <a:solidFill>
                  <a:srgbClr val="6E6A65"/>
                </a:solidFill>
                <a:latin typeface="Calibri" pitchFamily="34" charset="0"/>
                <a:ea typeface="Calibri" pitchFamily="34" charset="-122"/>
                <a:cs typeface="Calibri" pitchFamily="34" charset="-120"/>
              </a:rPr>
              <a:t>Express + TypeScript</a:t>
            </a:r>
            <a:endParaRPr lang="en-US" sz="1200" dirty="0"/>
          </a:p>
          <a:p>
            <a:pPr indent="0" marL="0">
              <a:lnSpc>
                <a:spcPts val="1600"/>
              </a:lnSpc>
              <a:buNone/>
            </a:pPr>
            <a:r>
              <a:rPr lang="en-US" sz="1200" dirty="0">
                <a:solidFill>
                  <a:srgbClr val="6E6A65"/>
                </a:solidFill>
                <a:latin typeface="Calibri" pitchFamily="34" charset="0"/>
                <a:ea typeface="Calibri" pitchFamily="34" charset="-122"/>
                <a:cs typeface="Calibri" pitchFamily="34" charset="-120"/>
              </a:rPr>
              <a:t>localhost:4000/api</a:t>
            </a:r>
            <a:endParaRPr lang="en-US" sz="1200" dirty="0"/>
          </a:p>
        </p:txBody>
      </p:sp>
      <p:sp>
        <p:nvSpPr>
          <p:cNvPr id="13" name="Text 11"/>
          <p:cNvSpPr/>
          <p:nvPr/>
        </p:nvSpPr>
        <p:spPr>
          <a:xfrm>
            <a:off x="5907024" y="2743200"/>
            <a:ext cx="457200" cy="365760"/>
          </a:xfrm>
          <a:prstGeom prst="rect">
            <a:avLst/>
          </a:prstGeom>
          <a:noFill/>
          <a:ln/>
        </p:spPr>
        <p:txBody>
          <a:bodyPr wrap="square" lIns="0" tIns="0" rIns="0" bIns="0" rtlCol="0" anchor="ctr"/>
          <a:lstStyle/>
          <a:p>
            <a:pPr algn="ctr" indent="0" marL="0">
              <a:buNone/>
            </a:pPr>
            <a:r>
              <a:rPr lang="en-US" sz="2000" dirty="0">
                <a:solidFill>
                  <a:srgbClr val="1A1A1A"/>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6364224" y="2148840"/>
            <a:ext cx="2404872" cy="1691640"/>
          </a:xfrm>
          <a:prstGeom prst="rect">
            <a:avLst/>
          </a:prstGeom>
          <a:solidFill>
            <a:srgbClr val="DED5C7"/>
          </a:solidFill>
          <a:ln/>
        </p:spPr>
      </p:sp>
      <p:sp>
        <p:nvSpPr>
          <p:cNvPr id="15" name="Text 13"/>
          <p:cNvSpPr/>
          <p:nvPr/>
        </p:nvSpPr>
        <p:spPr>
          <a:xfrm>
            <a:off x="6592824" y="2377440"/>
            <a:ext cx="1947672" cy="32004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Prisma ORM</a:t>
            </a:r>
            <a:endParaRPr lang="en-US" sz="1500" dirty="0"/>
          </a:p>
        </p:txBody>
      </p:sp>
      <p:sp>
        <p:nvSpPr>
          <p:cNvPr id="16" name="Text 14"/>
          <p:cNvSpPr/>
          <p:nvPr/>
        </p:nvSpPr>
        <p:spPr>
          <a:xfrm>
            <a:off x="6592824" y="2743200"/>
            <a:ext cx="1947672" cy="914400"/>
          </a:xfrm>
          <a:prstGeom prst="rect">
            <a:avLst/>
          </a:prstGeom>
          <a:noFill/>
          <a:ln/>
        </p:spPr>
        <p:txBody>
          <a:bodyPr wrap="square" lIns="0" tIns="0" rIns="0" bIns="0" rtlCol="0" anchor="ctr"/>
          <a:lstStyle/>
          <a:p>
            <a:pPr indent="0" marL="0">
              <a:lnSpc>
                <a:spcPts val="1600"/>
              </a:lnSpc>
              <a:buNone/>
            </a:pPr>
            <a:r>
              <a:rPr lang="en-US" sz="1200" dirty="0">
                <a:solidFill>
                  <a:srgbClr val="6E6A65"/>
                </a:solidFill>
                <a:latin typeface="Calibri" pitchFamily="34" charset="0"/>
                <a:ea typeface="Calibri" pitchFamily="34" charset="-122"/>
                <a:cs typeface="Calibri" pitchFamily="34" charset="-120"/>
              </a:rPr>
              <a:t>Sinh truy vấn</a:t>
            </a:r>
            <a:endParaRPr lang="en-US" sz="1200" dirty="0"/>
          </a:p>
          <a:p>
            <a:pPr indent="0" marL="0">
              <a:lnSpc>
                <a:spcPts val="1600"/>
              </a:lnSpc>
              <a:buNone/>
            </a:pPr>
            <a:r>
              <a:rPr lang="en-US" sz="1200" dirty="0">
                <a:solidFill>
                  <a:srgbClr val="6E6A65"/>
                </a:solidFill>
                <a:latin typeface="Calibri" pitchFamily="34" charset="0"/>
                <a:ea typeface="Calibri" pitchFamily="34" charset="-122"/>
                <a:cs typeface="Calibri" pitchFamily="34" charset="-120"/>
              </a:rPr>
              <a:t>an toàn kiểu</a:t>
            </a:r>
            <a:endParaRPr lang="en-US" sz="1200" dirty="0"/>
          </a:p>
        </p:txBody>
      </p:sp>
      <p:sp>
        <p:nvSpPr>
          <p:cNvPr id="17" name="Text 15"/>
          <p:cNvSpPr/>
          <p:nvPr/>
        </p:nvSpPr>
        <p:spPr>
          <a:xfrm>
            <a:off x="8769096" y="2743200"/>
            <a:ext cx="457200" cy="365760"/>
          </a:xfrm>
          <a:prstGeom prst="rect">
            <a:avLst/>
          </a:prstGeom>
          <a:noFill/>
          <a:ln/>
        </p:spPr>
        <p:txBody>
          <a:bodyPr wrap="square" lIns="0" tIns="0" rIns="0" bIns="0" rtlCol="0" anchor="ctr"/>
          <a:lstStyle/>
          <a:p>
            <a:pPr algn="ctr" indent="0" marL="0">
              <a:buNone/>
            </a:pPr>
            <a:r>
              <a:rPr lang="en-US" sz="2000" dirty="0">
                <a:solidFill>
                  <a:srgbClr val="1A1A1A"/>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9226296" y="2148840"/>
            <a:ext cx="2404872" cy="1691640"/>
          </a:xfrm>
          <a:prstGeom prst="rect">
            <a:avLst/>
          </a:prstGeom>
          <a:solidFill>
            <a:srgbClr val="EFE9DF"/>
          </a:solidFill>
          <a:ln/>
        </p:spPr>
      </p:sp>
      <p:sp>
        <p:nvSpPr>
          <p:cNvPr id="19" name="Text 17"/>
          <p:cNvSpPr/>
          <p:nvPr/>
        </p:nvSpPr>
        <p:spPr>
          <a:xfrm>
            <a:off x="9454896" y="2377440"/>
            <a:ext cx="1947672" cy="32004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MySQL 8</a:t>
            </a:r>
            <a:endParaRPr lang="en-US" sz="1500" dirty="0"/>
          </a:p>
        </p:txBody>
      </p:sp>
      <p:sp>
        <p:nvSpPr>
          <p:cNvPr id="20" name="Text 18"/>
          <p:cNvSpPr/>
          <p:nvPr/>
        </p:nvSpPr>
        <p:spPr>
          <a:xfrm>
            <a:off x="9454896" y="2743200"/>
            <a:ext cx="1947672" cy="914400"/>
          </a:xfrm>
          <a:prstGeom prst="rect">
            <a:avLst/>
          </a:prstGeom>
          <a:noFill/>
          <a:ln/>
        </p:spPr>
        <p:txBody>
          <a:bodyPr wrap="square" lIns="0" tIns="0" rIns="0" bIns="0" rtlCol="0" anchor="ctr"/>
          <a:lstStyle/>
          <a:p>
            <a:pPr indent="0" marL="0">
              <a:lnSpc>
                <a:spcPts val="1600"/>
              </a:lnSpc>
              <a:buNone/>
            </a:pPr>
            <a:r>
              <a:rPr lang="en-US" sz="1200" dirty="0">
                <a:solidFill>
                  <a:srgbClr val="6E6A65"/>
                </a:solidFill>
                <a:latin typeface="Calibri" pitchFamily="34" charset="0"/>
                <a:ea typeface="Calibri" pitchFamily="34" charset="-122"/>
                <a:cs typeface="Calibri" pitchFamily="34" charset="-120"/>
              </a:rPr>
              <a:t>13 bảng dữ liệu</a:t>
            </a:r>
            <a:endParaRPr lang="en-US" sz="1200" dirty="0"/>
          </a:p>
          <a:p>
            <a:pPr indent="0" marL="0">
              <a:lnSpc>
                <a:spcPts val="1600"/>
              </a:lnSpc>
              <a:buNone/>
            </a:pPr>
            <a:r>
              <a:rPr lang="en-US" sz="1200" dirty="0">
                <a:solidFill>
                  <a:srgbClr val="6E6A65"/>
                </a:solidFill>
                <a:latin typeface="Calibri" pitchFamily="34" charset="0"/>
                <a:ea typeface="Calibri" pitchFamily="34" charset="-122"/>
                <a:cs typeface="Calibri" pitchFamily="34" charset="-120"/>
              </a:rPr>
              <a:t>hoangnha_fashion</a:t>
            </a:r>
            <a:endParaRPr lang="en-US" sz="1200" dirty="0"/>
          </a:p>
        </p:txBody>
      </p:sp>
      <p:sp>
        <p:nvSpPr>
          <p:cNvPr id="21" name="Text 19"/>
          <p:cNvSpPr/>
          <p:nvPr/>
        </p:nvSpPr>
        <p:spPr>
          <a:xfrm>
            <a:off x="640080" y="4206240"/>
            <a:ext cx="10881360" cy="182880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Hai chương trình chạy độc lập, trao đổi dữ liệu qua RESTful API dưới dạng JSON</a:t>
            </a:r>
            <a:endParaRPr lang="en-US" sz="1450" dirty="0"/>
          </a:p>
          <a:p>
            <a:pPr marL="342900" indent="-3429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Sau khi đăng nhập, người dùng được cấp chuỗi JWT đính kèm vào các yêu cầu cần quyền</a:t>
            </a:r>
            <a:endParaRPr lang="en-US" sz="1450" dirty="0"/>
          </a:p>
          <a:p>
            <a:pPr marL="342900" indent="-3429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Client chỉ lo hiển thị, toàn bộ nghiệp vụ và kiểm tra dữ liệu nằm ở phía máy chủ</a:t>
            </a:r>
            <a:endParaRPr lang="en-US" sz="1450" dirty="0"/>
          </a:p>
          <a:p>
            <a:pPr marL="342900" indent="-3429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Cùng một API có thể phục vụ thêm ứng dụng di động mà không phải viết lại nghiệp vụ</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2103120"/>
            <a:ext cx="3657600" cy="1280160"/>
          </a:xfrm>
          <a:prstGeom prst="rect">
            <a:avLst/>
          </a:prstGeom>
          <a:noFill/>
          <a:ln/>
        </p:spPr>
        <p:txBody>
          <a:bodyPr wrap="square" lIns="0" tIns="0" rIns="0" bIns="0" rtlCol="0" anchor="ctr"/>
          <a:lstStyle/>
          <a:p>
            <a:pPr indent="0" marL="0">
              <a:buNone/>
            </a:pPr>
            <a:r>
              <a:rPr lang="en-US" sz="6400" b="1" dirty="0">
                <a:solidFill>
                  <a:srgbClr val="3A3733"/>
                </a:solidFill>
                <a:latin typeface="Cambria" pitchFamily="34" charset="0"/>
                <a:ea typeface="Cambria" pitchFamily="34" charset="-122"/>
                <a:cs typeface="Cambria" pitchFamily="34" charset="-120"/>
              </a:rPr>
              <a:t>02</a:t>
            </a:r>
            <a:endParaRPr lang="en-US" sz="6400" dirty="0"/>
          </a:p>
        </p:txBody>
      </p:sp>
      <p:sp>
        <p:nvSpPr>
          <p:cNvPr id="3" name="Text 1"/>
          <p:cNvSpPr/>
          <p:nvPr/>
        </p:nvSpPr>
        <p:spPr>
          <a:xfrm>
            <a:off x="822960" y="3383280"/>
            <a:ext cx="64008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Trần Khánh Hoàng</a:t>
            </a:r>
            <a:endParaRPr lang="en-US" sz="3000" dirty="0"/>
          </a:p>
        </p:txBody>
      </p:sp>
      <p:sp>
        <p:nvSpPr>
          <p:cNvPr id="4" name="Text 2"/>
          <p:cNvSpPr/>
          <p:nvPr/>
        </p:nvSpPr>
        <p:spPr>
          <a:xfrm>
            <a:off x="822960" y="3977640"/>
            <a:ext cx="7772400" cy="457200"/>
          </a:xfrm>
          <a:prstGeom prst="rect">
            <a:avLst/>
          </a:prstGeom>
          <a:noFill/>
          <a:ln/>
        </p:spPr>
        <p:txBody>
          <a:bodyPr wrap="square" lIns="0" tIns="0" rIns="0" bIns="0" rtlCol="0" anchor="ctr"/>
          <a:lstStyle/>
          <a:p>
            <a:pPr indent="0" marL="0">
              <a:buNone/>
            </a:pPr>
            <a:r>
              <a:rPr lang="en-US" sz="1400" dirty="0">
                <a:solidFill>
                  <a:srgbClr val="A9A399"/>
                </a:solidFill>
                <a:latin typeface="Calibri" pitchFamily="34" charset="0"/>
                <a:ea typeface="Calibri" pitchFamily="34" charset="-122"/>
                <a:cs typeface="Calibri" pitchFamily="34" charset="-120"/>
              </a:rPr>
              <a:t>Yêu cầu hệ thống · Sơ đồ use case · Yêu cầu bảo mật</a:t>
            </a:r>
            <a:endParaRPr lang="en-US" sz="1400" dirty="0"/>
          </a:p>
        </p:txBody>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07</a:t>
            </a:r>
            <a:endParaRPr lang="en-US" sz="1000" dirty="0"/>
          </a:p>
        </p:txBody>
      </p:sp>
      <p:sp>
        <p:nvSpPr>
          <p:cNvPr id="6" name="Shape 4"/>
          <p:cNvSpPr/>
          <p:nvPr/>
        </p:nvSpPr>
        <p:spPr>
          <a:xfrm>
            <a:off x="11292840" y="6419088"/>
            <a:ext cx="82296" cy="82296"/>
          </a:xfrm>
          <a:prstGeom prst="rect">
            <a:avLst/>
          </a:prstGeom>
          <a:solidFill>
            <a:srgbClr val="EFE9DF"/>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2 · TRẦN KHÁNH HOÀNG</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Yêu cầu hệ thống — phía khách hàng</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08</a:t>
            </a:r>
            <a:endParaRPr lang="en-US" sz="1000" dirty="0"/>
          </a:p>
        </p:txBody>
      </p:sp>
      <p:sp>
        <p:nvSpPr>
          <p:cNvPr id="6" name="Shape 4"/>
          <p:cNvSpPr/>
          <p:nvPr/>
        </p:nvSpPr>
        <p:spPr>
          <a:xfrm>
            <a:off x="640080" y="2446020"/>
            <a:ext cx="5349240" cy="1371600"/>
          </a:xfrm>
          <a:prstGeom prst="rect">
            <a:avLst/>
          </a:prstGeom>
          <a:solidFill>
            <a:srgbClr val="EFE9DF"/>
          </a:solidFill>
          <a:ln/>
        </p:spPr>
      </p:sp>
      <p:sp>
        <p:nvSpPr>
          <p:cNvPr id="7" name="Text 5"/>
          <p:cNvSpPr/>
          <p:nvPr/>
        </p:nvSpPr>
        <p:spPr>
          <a:xfrm>
            <a:off x="914400" y="272034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Tài khoản</a:t>
            </a:r>
            <a:endParaRPr lang="en-US" sz="1500" dirty="0"/>
          </a:p>
        </p:txBody>
      </p:sp>
      <p:sp>
        <p:nvSpPr>
          <p:cNvPr id="8" name="Text 6"/>
          <p:cNvSpPr/>
          <p:nvPr/>
        </p:nvSpPr>
        <p:spPr>
          <a:xfrm>
            <a:off x="914400" y="3067812"/>
            <a:ext cx="4800600" cy="4572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Đăng ký, đăng nhập, quên và đổi mật khẩu, cập nhật thông tin cá nhân, xem lịch sử mua hàng.</a:t>
            </a:r>
            <a:endParaRPr lang="en-US" sz="1250" dirty="0"/>
          </a:p>
        </p:txBody>
      </p:sp>
      <p:sp>
        <p:nvSpPr>
          <p:cNvPr id="9" name="Shape 7"/>
          <p:cNvSpPr/>
          <p:nvPr/>
        </p:nvSpPr>
        <p:spPr>
          <a:xfrm>
            <a:off x="6172200" y="2446020"/>
            <a:ext cx="5349240" cy="1371600"/>
          </a:xfrm>
          <a:prstGeom prst="rect">
            <a:avLst/>
          </a:prstGeom>
          <a:solidFill>
            <a:srgbClr val="EFE9DF"/>
          </a:solidFill>
          <a:ln/>
        </p:spPr>
      </p:sp>
      <p:sp>
        <p:nvSpPr>
          <p:cNvPr id="10" name="Text 8"/>
          <p:cNvSpPr/>
          <p:nvPr/>
        </p:nvSpPr>
        <p:spPr>
          <a:xfrm>
            <a:off x="6446520" y="272034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Tìm kiếm sản phẩm</a:t>
            </a:r>
            <a:endParaRPr lang="en-US" sz="1500" dirty="0"/>
          </a:p>
        </p:txBody>
      </p:sp>
      <p:sp>
        <p:nvSpPr>
          <p:cNvPr id="11" name="Text 9"/>
          <p:cNvSpPr/>
          <p:nvPr/>
        </p:nvSpPr>
        <p:spPr>
          <a:xfrm>
            <a:off x="6446520" y="3067812"/>
            <a:ext cx="4800600" cy="4572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Lọc theo tên, danh mục, giá, size, màu và thương hiệu; xem chi tiết kèm sản phẩm cùng loại.</a:t>
            </a:r>
            <a:endParaRPr lang="en-US" sz="1250" dirty="0"/>
          </a:p>
        </p:txBody>
      </p:sp>
      <p:sp>
        <p:nvSpPr>
          <p:cNvPr id="12" name="Shape 10"/>
          <p:cNvSpPr/>
          <p:nvPr/>
        </p:nvSpPr>
        <p:spPr>
          <a:xfrm>
            <a:off x="640080" y="4000500"/>
            <a:ext cx="5349240" cy="1371600"/>
          </a:xfrm>
          <a:prstGeom prst="rect">
            <a:avLst/>
          </a:prstGeom>
          <a:solidFill>
            <a:srgbClr val="EFE9DF"/>
          </a:solidFill>
          <a:ln/>
        </p:spPr>
      </p:sp>
      <p:sp>
        <p:nvSpPr>
          <p:cNvPr id="13" name="Text 11"/>
          <p:cNvSpPr/>
          <p:nvPr/>
        </p:nvSpPr>
        <p:spPr>
          <a:xfrm>
            <a:off x="914400" y="427482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Giỏ hàng và thanh toán</a:t>
            </a:r>
            <a:endParaRPr lang="en-US" sz="1500" dirty="0"/>
          </a:p>
        </p:txBody>
      </p:sp>
      <p:sp>
        <p:nvSpPr>
          <p:cNvPr id="14" name="Text 12"/>
          <p:cNvSpPr/>
          <p:nvPr/>
        </p:nvSpPr>
        <p:spPr>
          <a:xfrm>
            <a:off x="914400" y="4622292"/>
            <a:ext cx="4800600" cy="4572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Thêm, sửa số lượng, xóa sản phẩm; áp mã giảm giá; chọn COD hoặc chuyển khoản QR.</a:t>
            </a:r>
            <a:endParaRPr lang="en-US" sz="1250" dirty="0"/>
          </a:p>
        </p:txBody>
      </p:sp>
      <p:sp>
        <p:nvSpPr>
          <p:cNvPr id="15" name="Shape 13"/>
          <p:cNvSpPr/>
          <p:nvPr/>
        </p:nvSpPr>
        <p:spPr>
          <a:xfrm>
            <a:off x="6172200" y="4000500"/>
            <a:ext cx="5349240" cy="1371600"/>
          </a:xfrm>
          <a:prstGeom prst="rect">
            <a:avLst/>
          </a:prstGeom>
          <a:solidFill>
            <a:srgbClr val="EFE9DF"/>
          </a:solidFill>
          <a:ln/>
        </p:spPr>
      </p:sp>
      <p:sp>
        <p:nvSpPr>
          <p:cNvPr id="16" name="Text 14"/>
          <p:cNvSpPr/>
          <p:nvPr/>
        </p:nvSpPr>
        <p:spPr>
          <a:xfrm>
            <a:off x="6446520" y="427482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Theo dõi và tương tác</a:t>
            </a:r>
            <a:endParaRPr lang="en-US" sz="1500" dirty="0"/>
          </a:p>
        </p:txBody>
      </p:sp>
      <p:sp>
        <p:nvSpPr>
          <p:cNvPr id="17" name="Text 15"/>
          <p:cNvSpPr/>
          <p:nvPr/>
        </p:nvSpPr>
        <p:spPr>
          <a:xfrm>
            <a:off x="6446520" y="4622292"/>
            <a:ext cx="4800600" cy="4572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Xem trạng thái đơn hàng, gửi đánh giá và bình luận sau khi đăng nhập.</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2 · TRẦN KHÁNH HOÀNG</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Yêu cầu hệ thống — phía quản trị</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09</a:t>
            </a:r>
            <a:endParaRPr lang="en-US" sz="1000" dirty="0"/>
          </a:p>
        </p:txBody>
      </p:sp>
      <p:sp>
        <p:nvSpPr>
          <p:cNvPr id="6" name="Text 4"/>
          <p:cNvSpPr/>
          <p:nvPr/>
        </p:nvSpPr>
        <p:spPr>
          <a:xfrm>
            <a:off x="640080" y="1691640"/>
            <a:ext cx="10881360" cy="320040"/>
          </a:xfrm>
          <a:prstGeom prst="rect">
            <a:avLst/>
          </a:prstGeom>
          <a:noFill/>
          <a:ln/>
        </p:spPr>
        <p:txBody>
          <a:bodyPr wrap="square" lIns="0" tIns="0" rIns="0" bIns="0" rtlCol="0" anchor="ctr"/>
          <a:lstStyle/>
          <a:p>
            <a:pPr indent="0" marL="0">
              <a:buNone/>
            </a:pPr>
            <a:r>
              <a:rPr lang="en-US" sz="1400" i="1" dirty="0">
                <a:solidFill>
                  <a:srgbClr val="6E6A65"/>
                </a:solidFill>
                <a:latin typeface="Calibri" pitchFamily="34" charset="0"/>
                <a:ea typeface="Calibri" pitchFamily="34" charset="-122"/>
                <a:cs typeface="Calibri" pitchFamily="34" charset="-120"/>
              </a:rPr>
              <a:t>Mọi trang quản lý đều có xem, thêm, sửa, xóa, tìm kiếm và phân trang.</a:t>
            </a:r>
            <a:endParaRPr lang="en-US" sz="1400" dirty="0"/>
          </a:p>
        </p:txBody>
      </p:sp>
      <p:sp>
        <p:nvSpPr>
          <p:cNvPr id="7" name="Shape 5"/>
          <p:cNvSpPr/>
          <p:nvPr/>
        </p:nvSpPr>
        <p:spPr>
          <a:xfrm>
            <a:off x="640080" y="2240280"/>
            <a:ext cx="2587752" cy="1143000"/>
          </a:xfrm>
          <a:prstGeom prst="rect">
            <a:avLst/>
          </a:prstGeom>
          <a:solidFill>
            <a:srgbClr val="EFE9DF"/>
          </a:solidFill>
          <a:ln/>
        </p:spPr>
      </p:sp>
      <p:sp>
        <p:nvSpPr>
          <p:cNvPr id="8" name="Text 6"/>
          <p:cNvSpPr/>
          <p:nvPr/>
        </p:nvSpPr>
        <p:spPr>
          <a:xfrm>
            <a:off x="868680" y="2240280"/>
            <a:ext cx="2130552" cy="11430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Hàng hóa và biến thể</a:t>
            </a:r>
            <a:endParaRPr lang="en-US" sz="1400" dirty="0"/>
          </a:p>
        </p:txBody>
      </p:sp>
      <p:sp>
        <p:nvSpPr>
          <p:cNvPr id="9" name="Shape 7"/>
          <p:cNvSpPr/>
          <p:nvPr/>
        </p:nvSpPr>
        <p:spPr>
          <a:xfrm>
            <a:off x="3410712" y="2240280"/>
            <a:ext cx="2587752" cy="1143000"/>
          </a:xfrm>
          <a:prstGeom prst="rect">
            <a:avLst/>
          </a:prstGeom>
          <a:solidFill>
            <a:srgbClr val="EFE9DF"/>
          </a:solidFill>
          <a:ln/>
        </p:spPr>
      </p:sp>
      <p:sp>
        <p:nvSpPr>
          <p:cNvPr id="10" name="Text 8"/>
          <p:cNvSpPr/>
          <p:nvPr/>
        </p:nvSpPr>
        <p:spPr>
          <a:xfrm>
            <a:off x="3639312" y="2240280"/>
            <a:ext cx="2130552" cy="11430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Loại hàng</a:t>
            </a:r>
            <a:endParaRPr lang="en-US" sz="1400" dirty="0"/>
          </a:p>
        </p:txBody>
      </p:sp>
      <p:sp>
        <p:nvSpPr>
          <p:cNvPr id="11" name="Shape 9"/>
          <p:cNvSpPr/>
          <p:nvPr/>
        </p:nvSpPr>
        <p:spPr>
          <a:xfrm>
            <a:off x="6181344" y="2240280"/>
            <a:ext cx="2587752" cy="1143000"/>
          </a:xfrm>
          <a:prstGeom prst="rect">
            <a:avLst/>
          </a:prstGeom>
          <a:solidFill>
            <a:srgbClr val="EFE9DF"/>
          </a:solidFill>
          <a:ln/>
        </p:spPr>
      </p:sp>
      <p:sp>
        <p:nvSpPr>
          <p:cNvPr id="12" name="Text 10"/>
          <p:cNvSpPr/>
          <p:nvPr/>
        </p:nvSpPr>
        <p:spPr>
          <a:xfrm>
            <a:off x="6409944" y="2240280"/>
            <a:ext cx="2130552" cy="11430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Khách hàng</a:t>
            </a:r>
            <a:endParaRPr lang="en-US" sz="1400" dirty="0"/>
          </a:p>
        </p:txBody>
      </p:sp>
      <p:sp>
        <p:nvSpPr>
          <p:cNvPr id="13" name="Shape 11"/>
          <p:cNvSpPr/>
          <p:nvPr/>
        </p:nvSpPr>
        <p:spPr>
          <a:xfrm>
            <a:off x="8951976" y="2240280"/>
            <a:ext cx="2587752" cy="1143000"/>
          </a:xfrm>
          <a:prstGeom prst="rect">
            <a:avLst/>
          </a:prstGeom>
          <a:solidFill>
            <a:srgbClr val="EFE9DF"/>
          </a:solidFill>
          <a:ln/>
        </p:spPr>
      </p:sp>
      <p:sp>
        <p:nvSpPr>
          <p:cNvPr id="14" name="Text 12"/>
          <p:cNvSpPr/>
          <p:nvPr/>
        </p:nvSpPr>
        <p:spPr>
          <a:xfrm>
            <a:off x="9180576" y="2240280"/>
            <a:ext cx="2130552" cy="11430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Đơn hàng</a:t>
            </a:r>
            <a:endParaRPr lang="en-US" sz="1400" dirty="0"/>
          </a:p>
        </p:txBody>
      </p:sp>
      <p:sp>
        <p:nvSpPr>
          <p:cNvPr id="15" name="Shape 13"/>
          <p:cNvSpPr/>
          <p:nvPr/>
        </p:nvSpPr>
        <p:spPr>
          <a:xfrm>
            <a:off x="640080" y="3611880"/>
            <a:ext cx="2587752" cy="1143000"/>
          </a:xfrm>
          <a:prstGeom prst="rect">
            <a:avLst/>
          </a:prstGeom>
          <a:solidFill>
            <a:srgbClr val="EFE9DF"/>
          </a:solidFill>
          <a:ln/>
        </p:spPr>
      </p:sp>
      <p:sp>
        <p:nvSpPr>
          <p:cNvPr id="16" name="Text 14"/>
          <p:cNvSpPr/>
          <p:nvPr/>
        </p:nvSpPr>
        <p:spPr>
          <a:xfrm>
            <a:off x="868680" y="3611880"/>
            <a:ext cx="2130552" cy="11430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Bình luận, đánh giá</a:t>
            </a:r>
            <a:endParaRPr lang="en-US" sz="1400" dirty="0"/>
          </a:p>
        </p:txBody>
      </p:sp>
      <p:sp>
        <p:nvSpPr>
          <p:cNvPr id="17" name="Shape 15"/>
          <p:cNvSpPr/>
          <p:nvPr/>
        </p:nvSpPr>
        <p:spPr>
          <a:xfrm>
            <a:off x="3410712" y="3611880"/>
            <a:ext cx="2587752" cy="1143000"/>
          </a:xfrm>
          <a:prstGeom prst="rect">
            <a:avLst/>
          </a:prstGeom>
          <a:solidFill>
            <a:srgbClr val="EFE9DF"/>
          </a:solidFill>
          <a:ln/>
        </p:spPr>
      </p:sp>
      <p:sp>
        <p:nvSpPr>
          <p:cNvPr id="18" name="Text 16"/>
          <p:cNvSpPr/>
          <p:nvPr/>
        </p:nvSpPr>
        <p:spPr>
          <a:xfrm>
            <a:off x="3639312" y="3611880"/>
            <a:ext cx="2130552" cy="11430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Voucher khuyến mãi</a:t>
            </a:r>
            <a:endParaRPr lang="en-US" sz="1400" dirty="0"/>
          </a:p>
        </p:txBody>
      </p:sp>
      <p:sp>
        <p:nvSpPr>
          <p:cNvPr id="19" name="Shape 17"/>
          <p:cNvSpPr/>
          <p:nvPr/>
        </p:nvSpPr>
        <p:spPr>
          <a:xfrm>
            <a:off x="6181344" y="3611880"/>
            <a:ext cx="2587752" cy="1143000"/>
          </a:xfrm>
          <a:prstGeom prst="rect">
            <a:avLst/>
          </a:prstGeom>
          <a:solidFill>
            <a:srgbClr val="EFE9DF"/>
          </a:solidFill>
          <a:ln/>
        </p:spPr>
      </p:sp>
      <p:sp>
        <p:nvSpPr>
          <p:cNvPr id="20" name="Text 18"/>
          <p:cNvSpPr/>
          <p:nvPr/>
        </p:nvSpPr>
        <p:spPr>
          <a:xfrm>
            <a:off x="6409944" y="3611880"/>
            <a:ext cx="2130552" cy="11430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Banner quảng cáo</a:t>
            </a:r>
            <a:endParaRPr lang="en-US" sz="1400" dirty="0"/>
          </a:p>
        </p:txBody>
      </p:sp>
      <p:sp>
        <p:nvSpPr>
          <p:cNvPr id="21" name="Shape 19"/>
          <p:cNvSpPr/>
          <p:nvPr/>
        </p:nvSpPr>
        <p:spPr>
          <a:xfrm>
            <a:off x="8951976" y="3611880"/>
            <a:ext cx="2587752" cy="1143000"/>
          </a:xfrm>
          <a:prstGeom prst="rect">
            <a:avLst/>
          </a:prstGeom>
          <a:solidFill>
            <a:srgbClr val="EFE9DF"/>
          </a:solidFill>
          <a:ln/>
        </p:spPr>
      </p:sp>
      <p:sp>
        <p:nvSpPr>
          <p:cNvPr id="22" name="Text 20"/>
          <p:cNvSpPr/>
          <p:nvPr/>
        </p:nvSpPr>
        <p:spPr>
          <a:xfrm>
            <a:off x="9180576" y="3611880"/>
            <a:ext cx="2130552" cy="11430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Thống kê báo cáo</a:t>
            </a:r>
            <a:endParaRPr lang="en-US" sz="1400" dirty="0"/>
          </a:p>
        </p:txBody>
      </p:sp>
      <p:sp>
        <p:nvSpPr>
          <p:cNvPr id="23" name="Text 21"/>
          <p:cNvSpPr/>
          <p:nvPr/>
        </p:nvSpPr>
        <p:spPr>
          <a:xfrm>
            <a:off x="640080" y="5166360"/>
            <a:ext cx="10881360" cy="9144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Thống kê hàng hóa theo loại hiển thị dưới dạng biểu đồ, thống kê bình luận theo từng sản phẩm</a:t>
            </a:r>
            <a:endParaRPr lang="en-US" sz="1400" dirty="0"/>
          </a:p>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Quản trị viên không được phép xóa chính tài khoản của mình</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2 · TRẦN KHÁNH HOÀNG</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Sơ đồ Use Case</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640080" y="1783080"/>
            <a:ext cx="7040880" cy="4206240"/>
          </a:xfrm>
          <a:prstGeom prst="rect">
            <a:avLst/>
          </a:prstGeom>
          <a:solidFill>
            <a:srgbClr val="FAF8F5"/>
          </a:solidFill>
          <a:ln w="15875">
            <a:solidFill>
              <a:srgbClr val="DED5C7"/>
            </a:solidFill>
            <a:prstDash val="dash"/>
          </a:ln>
        </p:spPr>
      </p:sp>
      <p:sp>
        <p:nvSpPr>
          <p:cNvPr id="7" name="Text 5"/>
          <p:cNvSpPr/>
          <p:nvPr/>
        </p:nvSpPr>
        <p:spPr>
          <a:xfrm>
            <a:off x="640080" y="3657600"/>
            <a:ext cx="7040880" cy="457200"/>
          </a:xfrm>
          <a:prstGeom prst="rect">
            <a:avLst/>
          </a:prstGeom>
          <a:noFill/>
          <a:ln/>
        </p:spPr>
        <p:txBody>
          <a:bodyPr wrap="square" lIns="0" tIns="0" rIns="0" bIns="0" rtlCol="0" anchor="ctr"/>
          <a:lstStyle/>
          <a:p>
            <a:pPr algn="ctr" indent="0" marL="0">
              <a:buNone/>
            </a:pPr>
            <a:r>
              <a:rPr lang="en-US" sz="1200" i="1" dirty="0">
                <a:solidFill>
                  <a:srgbClr val="6E6A65"/>
                </a:solidFill>
                <a:latin typeface="Calibri" pitchFamily="34" charset="0"/>
                <a:ea typeface="Calibri" pitchFamily="34" charset="-122"/>
                <a:cs typeface="Calibri" pitchFamily="34" charset="-120"/>
              </a:rPr>
              <a:t>Chèn ảnh sơ đồ use case tại đây (docs/UseCase-HoangNha.drawio)</a:t>
            </a:r>
            <a:endParaRPr lang="en-US" sz="1200" dirty="0"/>
          </a:p>
        </p:txBody>
      </p:sp>
      <p:sp>
        <p:nvSpPr>
          <p:cNvPr id="8" name="Shape 6"/>
          <p:cNvSpPr/>
          <p:nvPr/>
        </p:nvSpPr>
        <p:spPr>
          <a:xfrm>
            <a:off x="7955280" y="1783080"/>
            <a:ext cx="3566160" cy="2011680"/>
          </a:xfrm>
          <a:prstGeom prst="rect">
            <a:avLst/>
          </a:prstGeom>
          <a:solidFill>
            <a:srgbClr val="EFE9DF"/>
          </a:solidFill>
          <a:ln/>
        </p:spPr>
      </p:sp>
      <p:sp>
        <p:nvSpPr>
          <p:cNvPr id="9" name="Text 7"/>
          <p:cNvSpPr/>
          <p:nvPr/>
        </p:nvSpPr>
        <p:spPr>
          <a:xfrm>
            <a:off x="8229600" y="2057400"/>
            <a:ext cx="301752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Khách hàng</a:t>
            </a:r>
            <a:endParaRPr lang="en-US" sz="1500" dirty="0"/>
          </a:p>
        </p:txBody>
      </p:sp>
      <p:sp>
        <p:nvSpPr>
          <p:cNvPr id="10" name="Text 8"/>
          <p:cNvSpPr/>
          <p:nvPr/>
        </p:nvSpPr>
        <p:spPr>
          <a:xfrm>
            <a:off x="8229600" y="2404872"/>
            <a:ext cx="3017520" cy="109728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Đăng ký, đăng nhập, tìm kiếm, xem chi tiết, giỏ hàng, đặt hàng, đánh giá và theo dõi đơn.</a:t>
            </a:r>
            <a:endParaRPr lang="en-US" sz="1250" dirty="0"/>
          </a:p>
        </p:txBody>
      </p:sp>
      <p:sp>
        <p:nvSpPr>
          <p:cNvPr id="11" name="Shape 9"/>
          <p:cNvSpPr/>
          <p:nvPr/>
        </p:nvSpPr>
        <p:spPr>
          <a:xfrm>
            <a:off x="7955280" y="3977640"/>
            <a:ext cx="3566160" cy="2011680"/>
          </a:xfrm>
          <a:prstGeom prst="rect">
            <a:avLst/>
          </a:prstGeom>
          <a:solidFill>
            <a:srgbClr val="EFE9DF"/>
          </a:solidFill>
          <a:ln/>
        </p:spPr>
      </p:sp>
      <p:sp>
        <p:nvSpPr>
          <p:cNvPr id="12" name="Text 10"/>
          <p:cNvSpPr/>
          <p:nvPr/>
        </p:nvSpPr>
        <p:spPr>
          <a:xfrm>
            <a:off x="8229600" y="4251960"/>
            <a:ext cx="301752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Quản trị viên</a:t>
            </a:r>
            <a:endParaRPr lang="en-US" sz="1500" dirty="0"/>
          </a:p>
        </p:txBody>
      </p:sp>
      <p:sp>
        <p:nvSpPr>
          <p:cNvPr id="13" name="Text 11"/>
          <p:cNvSpPr/>
          <p:nvPr/>
        </p:nvSpPr>
        <p:spPr>
          <a:xfrm>
            <a:off x="8229600" y="4599432"/>
            <a:ext cx="3017520" cy="109728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Quản lý sản phẩm, danh mục, khách hàng, đơn hàng, bình luận, voucher, banner và thống kê.</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2 · TRẦN KHÁNH HOÀNG</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Yêu cầu bảo mật và phi chức năng</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11</a:t>
            </a:r>
            <a:endParaRPr lang="en-US" sz="1000" dirty="0"/>
          </a:p>
        </p:txBody>
      </p:sp>
      <p:sp>
        <p:nvSpPr>
          <p:cNvPr id="6" name="Text 4"/>
          <p:cNvSpPr/>
          <p:nvPr/>
        </p:nvSpPr>
        <p:spPr>
          <a:xfrm>
            <a:off x="640080" y="2103120"/>
            <a:ext cx="10881360" cy="393192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Mọi form nhập đều kiểm soát dữ liệu ở cả phía trình duyệt và phía máy chủ</a:t>
            </a:r>
            <a:endParaRPr lang="en-US" sz="1700" dirty="0"/>
          </a:p>
          <a:p>
            <a:pPr marL="342900" indent="-342900">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Khách chưa đăng nhập không được gửi bình luận, đổi mật khẩu hay cập nhật tài khoản</a:t>
            </a:r>
            <a:endParaRPr lang="en-US" sz="1700" dirty="0"/>
          </a:p>
          <a:p>
            <a:pPr marL="342900" indent="-342900">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Chỉ tài khoản có vai trò quản trị mới truy cập được khu vực admin, phân quyền bằng JWT</a:t>
            </a:r>
            <a:endParaRPr lang="en-US" sz="1700" dirty="0"/>
          </a:p>
          <a:p>
            <a:pPr marL="342900" indent="-342900">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Mật khẩu được mã hóa trước khi lưu vào cơ sở dữ liệu, không lưu dạng văn bản thường</a:t>
            </a:r>
            <a:endParaRPr lang="en-US" sz="1700" dirty="0"/>
          </a:p>
          <a:p>
            <a:pPr marL="342900" indent="-342900">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Giới hạn 5 lần đăng nhập sai liên tiếp để hạn chế dò mật khẩu tự động</a:t>
            </a:r>
            <a:endParaRPr lang="en-US" sz="1700" dirty="0"/>
          </a:p>
          <a:p>
            <a:pPr marL="342900" indent="-342900">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Giới hạn CORS về đúng tên miền Front-end, không trả nguyên văn lỗi hệ thống ra ngoài</a:t>
            </a:r>
            <a:endParaRPr lang="en-US" sz="1700" dirty="0"/>
          </a:p>
          <a:p>
            <a:pPr marL="342900" indent="-342900">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Tệp .env chứa chuỗi kết nối, khóa JWT và khóa API SePay được loại khỏi mã nguồn công khai</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2103120"/>
            <a:ext cx="3657600" cy="1280160"/>
          </a:xfrm>
          <a:prstGeom prst="rect">
            <a:avLst/>
          </a:prstGeom>
          <a:noFill/>
          <a:ln/>
        </p:spPr>
        <p:txBody>
          <a:bodyPr wrap="square" lIns="0" tIns="0" rIns="0" bIns="0" rtlCol="0" anchor="ctr"/>
          <a:lstStyle/>
          <a:p>
            <a:pPr indent="0" marL="0">
              <a:buNone/>
            </a:pPr>
            <a:r>
              <a:rPr lang="en-US" sz="6400" b="1" dirty="0">
                <a:solidFill>
                  <a:srgbClr val="3A3733"/>
                </a:solidFill>
                <a:latin typeface="Cambria" pitchFamily="34" charset="0"/>
                <a:ea typeface="Cambria" pitchFamily="34" charset="-122"/>
                <a:cs typeface="Cambria" pitchFamily="34" charset="-120"/>
              </a:rPr>
              <a:t>03</a:t>
            </a:r>
            <a:endParaRPr lang="en-US" sz="6400" dirty="0"/>
          </a:p>
        </p:txBody>
      </p:sp>
      <p:sp>
        <p:nvSpPr>
          <p:cNvPr id="3" name="Text 1"/>
          <p:cNvSpPr/>
          <p:nvPr/>
        </p:nvSpPr>
        <p:spPr>
          <a:xfrm>
            <a:off x="822960" y="3383280"/>
            <a:ext cx="64008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Hồ Gia Phúc</a:t>
            </a:r>
            <a:endParaRPr lang="en-US" sz="3000" dirty="0"/>
          </a:p>
        </p:txBody>
      </p:sp>
      <p:sp>
        <p:nvSpPr>
          <p:cNvPr id="4" name="Text 2"/>
          <p:cNvSpPr/>
          <p:nvPr/>
        </p:nvSpPr>
        <p:spPr>
          <a:xfrm>
            <a:off x="822960" y="3977640"/>
            <a:ext cx="7772400" cy="457200"/>
          </a:xfrm>
          <a:prstGeom prst="rect">
            <a:avLst/>
          </a:prstGeom>
          <a:noFill/>
          <a:ln/>
        </p:spPr>
        <p:txBody>
          <a:bodyPr wrap="square" lIns="0" tIns="0" rIns="0" bIns="0" rtlCol="0" anchor="ctr"/>
          <a:lstStyle/>
          <a:p>
            <a:pPr indent="0" marL="0">
              <a:buNone/>
            </a:pPr>
            <a:r>
              <a:rPr lang="en-US" sz="1400" dirty="0">
                <a:solidFill>
                  <a:srgbClr val="A9A399"/>
                </a:solidFill>
                <a:latin typeface="Calibri" pitchFamily="34" charset="0"/>
                <a:ea typeface="Calibri" pitchFamily="34" charset="-122"/>
                <a:cs typeface="Calibri" pitchFamily="34" charset="-120"/>
              </a:rPr>
              <a:t>Thiết kế cơ sở dữ liệu · Sitemap · Thiết kế giao diện</a:t>
            </a:r>
            <a:endParaRPr lang="en-US" sz="1400" dirty="0"/>
          </a:p>
        </p:txBody>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11292840" y="6419088"/>
            <a:ext cx="82296" cy="82296"/>
          </a:xfrm>
          <a:prstGeom prst="rect">
            <a:avLst/>
          </a:prstGeom>
          <a:solidFill>
            <a:srgbClr val="EFE9DF"/>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3 · HỒ GIA PHÚC</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Thiết kế cơ sở dữ liệu — tổng quan</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13</a:t>
            </a:r>
            <a:endParaRPr lang="en-US" sz="1000" dirty="0"/>
          </a:p>
        </p:txBody>
      </p:sp>
      <p:sp>
        <p:nvSpPr>
          <p:cNvPr id="6" name="Text 4"/>
          <p:cNvSpPr/>
          <p:nvPr/>
        </p:nvSpPr>
        <p:spPr>
          <a:xfrm>
            <a:off x="640080" y="1691640"/>
            <a:ext cx="10881360" cy="320040"/>
          </a:xfrm>
          <a:prstGeom prst="rect">
            <a:avLst/>
          </a:prstGeom>
          <a:noFill/>
          <a:ln/>
        </p:spPr>
        <p:txBody>
          <a:bodyPr wrap="square" lIns="0" tIns="0" rIns="0" bIns="0" rtlCol="0" anchor="ctr"/>
          <a:lstStyle/>
          <a:p>
            <a:pPr indent="0" marL="0">
              <a:buNone/>
            </a:pPr>
            <a:r>
              <a:rPr lang="en-US" sz="1400" i="1" dirty="0">
                <a:solidFill>
                  <a:srgbClr val="6E6A65"/>
                </a:solidFill>
                <a:latin typeface="Calibri" pitchFamily="34" charset="0"/>
                <a:ea typeface="Calibri" pitchFamily="34" charset="-122"/>
                <a:cs typeface="Calibri" pitchFamily="34" charset="-120"/>
              </a:rPr>
              <a:t>Cơ sở dữ liệu hoangnha_fashion gồm 13 bảng, chia thành bốn nhóm nghiệp vụ.</a:t>
            </a:r>
            <a:endParaRPr lang="en-US" sz="1400" dirty="0"/>
          </a:p>
        </p:txBody>
      </p:sp>
      <p:sp>
        <p:nvSpPr>
          <p:cNvPr id="7" name="Shape 5"/>
          <p:cNvSpPr/>
          <p:nvPr/>
        </p:nvSpPr>
        <p:spPr>
          <a:xfrm>
            <a:off x="640080" y="2377440"/>
            <a:ext cx="2583180" cy="1810512"/>
          </a:xfrm>
          <a:prstGeom prst="rect">
            <a:avLst/>
          </a:prstGeom>
          <a:solidFill>
            <a:srgbClr val="EFE9DF"/>
          </a:solidFill>
          <a:ln/>
        </p:spPr>
      </p:sp>
      <p:sp>
        <p:nvSpPr>
          <p:cNvPr id="8" name="Text 6"/>
          <p:cNvSpPr/>
          <p:nvPr/>
        </p:nvSpPr>
        <p:spPr>
          <a:xfrm>
            <a:off x="914400" y="2651760"/>
            <a:ext cx="203454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Nhóm sản phẩm</a:t>
            </a:r>
            <a:endParaRPr lang="en-US" sz="1500" dirty="0"/>
          </a:p>
        </p:txBody>
      </p:sp>
      <p:sp>
        <p:nvSpPr>
          <p:cNvPr id="9" name="Text 7"/>
          <p:cNvSpPr/>
          <p:nvPr/>
        </p:nvSpPr>
        <p:spPr>
          <a:xfrm>
            <a:off x="914400" y="2999232"/>
            <a:ext cx="2034540" cy="896112"/>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categories</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products</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product_images</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variants</a:t>
            </a:r>
            <a:endParaRPr lang="en-US" sz="1250" dirty="0"/>
          </a:p>
        </p:txBody>
      </p:sp>
      <p:sp>
        <p:nvSpPr>
          <p:cNvPr id="10" name="Shape 8"/>
          <p:cNvSpPr/>
          <p:nvPr/>
        </p:nvSpPr>
        <p:spPr>
          <a:xfrm>
            <a:off x="3406140" y="2377440"/>
            <a:ext cx="2583180" cy="1810512"/>
          </a:xfrm>
          <a:prstGeom prst="rect">
            <a:avLst/>
          </a:prstGeom>
          <a:solidFill>
            <a:srgbClr val="EFE9DF"/>
          </a:solidFill>
          <a:ln/>
        </p:spPr>
      </p:sp>
      <p:sp>
        <p:nvSpPr>
          <p:cNvPr id="11" name="Text 9"/>
          <p:cNvSpPr/>
          <p:nvPr/>
        </p:nvSpPr>
        <p:spPr>
          <a:xfrm>
            <a:off x="3680460" y="2651760"/>
            <a:ext cx="203454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Nhóm người dùng</a:t>
            </a:r>
            <a:endParaRPr lang="en-US" sz="1500" dirty="0"/>
          </a:p>
        </p:txBody>
      </p:sp>
      <p:sp>
        <p:nvSpPr>
          <p:cNvPr id="12" name="Text 10"/>
          <p:cNvSpPr/>
          <p:nvPr/>
        </p:nvSpPr>
        <p:spPr>
          <a:xfrm>
            <a:off x="3680460" y="2999232"/>
            <a:ext cx="2034540" cy="896112"/>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users</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addresses</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reviews</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notifications</a:t>
            </a:r>
            <a:endParaRPr lang="en-US" sz="1250" dirty="0"/>
          </a:p>
        </p:txBody>
      </p:sp>
      <p:sp>
        <p:nvSpPr>
          <p:cNvPr id="13" name="Shape 11"/>
          <p:cNvSpPr/>
          <p:nvPr/>
        </p:nvSpPr>
        <p:spPr>
          <a:xfrm>
            <a:off x="6172200" y="2377440"/>
            <a:ext cx="2583180" cy="1810512"/>
          </a:xfrm>
          <a:prstGeom prst="rect">
            <a:avLst/>
          </a:prstGeom>
          <a:solidFill>
            <a:srgbClr val="EFE9DF"/>
          </a:solidFill>
          <a:ln/>
        </p:spPr>
      </p:sp>
      <p:sp>
        <p:nvSpPr>
          <p:cNvPr id="14" name="Text 12"/>
          <p:cNvSpPr/>
          <p:nvPr/>
        </p:nvSpPr>
        <p:spPr>
          <a:xfrm>
            <a:off x="6446520" y="2651760"/>
            <a:ext cx="203454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Nhóm bán hàng</a:t>
            </a:r>
            <a:endParaRPr lang="en-US" sz="1500" dirty="0"/>
          </a:p>
        </p:txBody>
      </p:sp>
      <p:sp>
        <p:nvSpPr>
          <p:cNvPr id="15" name="Text 13"/>
          <p:cNvSpPr/>
          <p:nvPr/>
        </p:nvSpPr>
        <p:spPr>
          <a:xfrm>
            <a:off x="6446520" y="2999232"/>
            <a:ext cx="2034540" cy="896112"/>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cart_items</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orders</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order_items</a:t>
            </a:r>
            <a:endParaRPr lang="en-US" sz="125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vouchers</a:t>
            </a:r>
            <a:endParaRPr lang="en-US" sz="1250" dirty="0"/>
          </a:p>
        </p:txBody>
      </p:sp>
      <p:sp>
        <p:nvSpPr>
          <p:cNvPr id="16" name="Shape 14"/>
          <p:cNvSpPr/>
          <p:nvPr/>
        </p:nvSpPr>
        <p:spPr>
          <a:xfrm>
            <a:off x="8938260" y="2377440"/>
            <a:ext cx="2583180" cy="1810512"/>
          </a:xfrm>
          <a:prstGeom prst="rect">
            <a:avLst/>
          </a:prstGeom>
          <a:solidFill>
            <a:srgbClr val="EFE9DF"/>
          </a:solidFill>
          <a:ln/>
        </p:spPr>
      </p:sp>
      <p:sp>
        <p:nvSpPr>
          <p:cNvPr id="17" name="Text 15"/>
          <p:cNvSpPr/>
          <p:nvPr/>
        </p:nvSpPr>
        <p:spPr>
          <a:xfrm>
            <a:off x="9212580" y="2651760"/>
            <a:ext cx="203454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Nhóm nội dung</a:t>
            </a:r>
            <a:endParaRPr lang="en-US" sz="1500" dirty="0"/>
          </a:p>
        </p:txBody>
      </p:sp>
      <p:sp>
        <p:nvSpPr>
          <p:cNvPr id="18" name="Text 16"/>
          <p:cNvSpPr/>
          <p:nvPr/>
        </p:nvSpPr>
        <p:spPr>
          <a:xfrm>
            <a:off x="9212580" y="2999232"/>
            <a:ext cx="2034540" cy="896112"/>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banners</a:t>
            </a:r>
            <a:endParaRPr lang="en-US" sz="1250" dirty="0"/>
          </a:p>
        </p:txBody>
      </p:sp>
      <p:sp>
        <p:nvSpPr>
          <p:cNvPr id="19" name="Text 17"/>
          <p:cNvSpPr/>
          <p:nvPr/>
        </p:nvSpPr>
        <p:spPr>
          <a:xfrm>
            <a:off x="640080" y="4690872"/>
            <a:ext cx="10881360" cy="100584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Bảng được sinh từ Prisma schema, có thể dựng nhanh bằng lệnh prisma db push</a:t>
            </a:r>
            <a:endParaRPr lang="en-US" sz="1450" dirty="0"/>
          </a:p>
          <a:p>
            <a:pPr marL="342900" indent="-3429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Hoặc import tệp docs/hoangnha_fashion.sql đã kèm sẵn 24 sản phẩm và 6 danh mục mẫu</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3 · HỒ GIA PHÚC</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Sơ đồ quan hệ thực thể (ERD)</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640080" y="1783080"/>
            <a:ext cx="7498080" cy="4206240"/>
          </a:xfrm>
          <a:prstGeom prst="rect">
            <a:avLst/>
          </a:prstGeom>
          <a:solidFill>
            <a:srgbClr val="FAF8F5"/>
          </a:solidFill>
          <a:ln w="15875">
            <a:solidFill>
              <a:srgbClr val="DED5C7"/>
            </a:solidFill>
            <a:prstDash val="dash"/>
          </a:ln>
        </p:spPr>
      </p:sp>
      <p:sp>
        <p:nvSpPr>
          <p:cNvPr id="7" name="Text 5"/>
          <p:cNvSpPr/>
          <p:nvPr/>
        </p:nvSpPr>
        <p:spPr>
          <a:xfrm>
            <a:off x="640080" y="3657600"/>
            <a:ext cx="7498080" cy="457200"/>
          </a:xfrm>
          <a:prstGeom prst="rect">
            <a:avLst/>
          </a:prstGeom>
          <a:noFill/>
          <a:ln/>
        </p:spPr>
        <p:txBody>
          <a:bodyPr wrap="square" lIns="0" tIns="0" rIns="0" bIns="0" rtlCol="0" anchor="ctr"/>
          <a:lstStyle/>
          <a:p>
            <a:pPr algn="ctr" indent="0" marL="0">
              <a:buNone/>
            </a:pPr>
            <a:r>
              <a:rPr lang="en-US" sz="1200" i="1" dirty="0">
                <a:solidFill>
                  <a:srgbClr val="6E6A65"/>
                </a:solidFill>
                <a:latin typeface="Calibri" pitchFamily="34" charset="0"/>
                <a:ea typeface="Calibri" pitchFamily="34" charset="-122"/>
                <a:cs typeface="Calibri" pitchFamily="34" charset="-120"/>
              </a:rPr>
              <a:t>Chèn ảnh ERD tại đây (docs/ERD-HoangNha.drawio)</a:t>
            </a:r>
            <a:endParaRPr lang="en-US" sz="1200" dirty="0"/>
          </a:p>
        </p:txBody>
      </p:sp>
      <p:sp>
        <p:nvSpPr>
          <p:cNvPr id="8" name="Text 6"/>
          <p:cNvSpPr/>
          <p:nvPr/>
        </p:nvSpPr>
        <p:spPr>
          <a:xfrm>
            <a:off x="8412480" y="1783080"/>
            <a:ext cx="3108960" cy="4206240"/>
          </a:xfrm>
          <a:prstGeom prst="rect">
            <a:avLst/>
          </a:prstGeom>
          <a:noFill/>
          <a:ln/>
        </p:spPr>
        <p:txBody>
          <a:bodyPr wrap="square" lIns="0" tIns="0" rIns="0" bIns="0" rtlCol="0" anchor="t"/>
          <a:lstStyle/>
          <a:p>
            <a:pPr indent="0" marL="0">
              <a:lnSpc>
                <a:spcPts val="1700"/>
              </a:lnSpc>
              <a:buNone/>
            </a:pPr>
            <a:r>
              <a:rPr lang="en-US" sz="1400" b="1" dirty="0">
                <a:solidFill>
                  <a:srgbClr val="1A1A1A"/>
                </a:solidFill>
                <a:latin typeface="Calibri" pitchFamily="34" charset="0"/>
                <a:ea typeface="Calibri" pitchFamily="34" charset="-122"/>
                <a:cs typeface="Calibri" pitchFamily="34" charset="-120"/>
              </a:rPr>
              <a:t>ERD mức 1</a:t>
            </a:r>
            <a:endParaRPr lang="en-US" sz="140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Các thực thể chính và quan hệ tổng quát giữa chúng.</a:t>
            </a:r>
            <a:endParaRPr lang="en-US" sz="1400" dirty="0"/>
          </a:p>
          <a:p>
            <a:pPr indent="0" marL="0">
              <a:lnSpc>
                <a:spcPts val="1700"/>
              </a:lnSpc>
              <a:buNone/>
            </a:pPr>
            <a:endParaRPr lang="en-US" sz="1400" dirty="0"/>
          </a:p>
          <a:p>
            <a:pPr indent="0" marL="0">
              <a:lnSpc>
                <a:spcPts val="1700"/>
              </a:lnSpc>
              <a:buNone/>
            </a:pPr>
            <a:r>
              <a:rPr lang="en-US" sz="1400" b="1" dirty="0">
                <a:solidFill>
                  <a:srgbClr val="1A1A1A"/>
                </a:solidFill>
                <a:latin typeface="Calibri" pitchFamily="34" charset="0"/>
                <a:ea typeface="Calibri" pitchFamily="34" charset="-122"/>
                <a:cs typeface="Calibri" pitchFamily="34" charset="-120"/>
              </a:rPr>
              <a:t>ERD mức 2</a:t>
            </a:r>
            <a:endParaRPr lang="en-US" sz="140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Đầy đủ thuộc tính, khóa chính và khóa ngoại của 13 bảng.</a:t>
            </a:r>
            <a:endParaRPr lang="en-US" sz="1400" dirty="0"/>
          </a:p>
          <a:p>
            <a:pPr indent="0" marL="0">
              <a:lnSpc>
                <a:spcPts val="1700"/>
              </a:lnSpc>
              <a:buNone/>
            </a:pPr>
            <a:endParaRPr lang="en-US" sz="1400" dirty="0"/>
          </a:p>
          <a:p>
            <a:pPr indent="0" marL="0">
              <a:lnSpc>
                <a:spcPts val="1700"/>
              </a:lnSpc>
              <a:buNone/>
            </a:pPr>
            <a:r>
              <a:rPr lang="en-US" sz="1400" b="1" dirty="0">
                <a:solidFill>
                  <a:srgbClr val="1A1A1A"/>
                </a:solidFill>
                <a:latin typeface="Calibri" pitchFamily="34" charset="0"/>
                <a:ea typeface="Calibri" pitchFamily="34" charset="-122"/>
                <a:cs typeface="Calibri" pitchFamily="34" charset="-120"/>
              </a:rPr>
              <a:t>Quan hệ tiêu biểu</a:t>
            </a:r>
            <a:endParaRPr lang="en-US" sz="1400" dirty="0"/>
          </a:p>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Một danh mục có nhiều sản phẩm; một sản phẩm có nhiều ảnh và nhiều biến thể; một đơn hàng gồm nhiều dòng order_items.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3 · HỒ GIA PHÚC</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Ba thực thể trọng tâm</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640080" y="2766060"/>
            <a:ext cx="3505200" cy="2286000"/>
          </a:xfrm>
          <a:prstGeom prst="rect">
            <a:avLst/>
          </a:prstGeom>
          <a:solidFill>
            <a:srgbClr val="EFE9DF"/>
          </a:solidFill>
          <a:ln/>
        </p:spPr>
      </p:sp>
      <p:sp>
        <p:nvSpPr>
          <p:cNvPr id="7" name="Shape 5"/>
          <p:cNvSpPr/>
          <p:nvPr/>
        </p:nvSpPr>
        <p:spPr>
          <a:xfrm>
            <a:off x="914400" y="3022092"/>
            <a:ext cx="384048" cy="384048"/>
          </a:xfrm>
          <a:prstGeom prst="ellipse">
            <a:avLst/>
          </a:prstGeom>
          <a:solidFill>
            <a:srgbClr val="1A1A1A"/>
          </a:solidFill>
          <a:ln/>
        </p:spPr>
      </p:sp>
      <p:sp>
        <p:nvSpPr>
          <p:cNvPr id="8" name="Text 6"/>
          <p:cNvSpPr/>
          <p:nvPr/>
        </p:nvSpPr>
        <p:spPr>
          <a:xfrm>
            <a:off x="914400" y="30220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914400" y="3515868"/>
            <a:ext cx="295656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products</a:t>
            </a:r>
            <a:endParaRPr lang="en-US" sz="1500" dirty="0"/>
          </a:p>
        </p:txBody>
      </p:sp>
      <p:sp>
        <p:nvSpPr>
          <p:cNvPr id="10" name="Text 8"/>
          <p:cNvSpPr/>
          <p:nvPr/>
        </p:nvSpPr>
        <p:spPr>
          <a:xfrm>
            <a:off x="914400" y="3863340"/>
            <a:ext cx="2956560" cy="9144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Tên, slug SEO, giá, giá cũ, thương hiệu, chất liệu, điểm đánh giá, số đã bán và các cờ sản phẩm mới, bán chạy, xu hướng.</a:t>
            </a:r>
            <a:endParaRPr lang="en-US" sz="1250" dirty="0"/>
          </a:p>
        </p:txBody>
      </p:sp>
      <p:sp>
        <p:nvSpPr>
          <p:cNvPr id="11" name="Shape 9"/>
          <p:cNvSpPr/>
          <p:nvPr/>
        </p:nvSpPr>
        <p:spPr>
          <a:xfrm>
            <a:off x="4328160" y="2766060"/>
            <a:ext cx="3505200" cy="2286000"/>
          </a:xfrm>
          <a:prstGeom prst="rect">
            <a:avLst/>
          </a:prstGeom>
          <a:solidFill>
            <a:srgbClr val="EFE9DF"/>
          </a:solidFill>
          <a:ln/>
        </p:spPr>
      </p:sp>
      <p:sp>
        <p:nvSpPr>
          <p:cNvPr id="12" name="Shape 10"/>
          <p:cNvSpPr/>
          <p:nvPr/>
        </p:nvSpPr>
        <p:spPr>
          <a:xfrm>
            <a:off x="4602480" y="3022092"/>
            <a:ext cx="384048" cy="384048"/>
          </a:xfrm>
          <a:prstGeom prst="ellipse">
            <a:avLst/>
          </a:prstGeom>
          <a:solidFill>
            <a:srgbClr val="1A1A1A"/>
          </a:solidFill>
          <a:ln/>
        </p:spPr>
      </p:sp>
      <p:sp>
        <p:nvSpPr>
          <p:cNvPr id="13" name="Text 11"/>
          <p:cNvSpPr/>
          <p:nvPr/>
        </p:nvSpPr>
        <p:spPr>
          <a:xfrm>
            <a:off x="4602480" y="30220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602480" y="3515868"/>
            <a:ext cx="295656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variants</a:t>
            </a:r>
            <a:endParaRPr lang="en-US" sz="1500" dirty="0"/>
          </a:p>
        </p:txBody>
      </p:sp>
      <p:sp>
        <p:nvSpPr>
          <p:cNvPr id="15" name="Text 13"/>
          <p:cNvSpPr/>
          <p:nvPr/>
        </p:nvSpPr>
        <p:spPr>
          <a:xfrm>
            <a:off x="4602480" y="3863340"/>
            <a:ext cx="2956560" cy="9144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Mỗi tổ hợp màu và size là một dòng riêng, có tồn kho và giá riêng. Nhờ vậy hệ thống trừ kho chính xác theo từng biến thể.</a:t>
            </a:r>
            <a:endParaRPr lang="en-US" sz="1250" dirty="0"/>
          </a:p>
        </p:txBody>
      </p:sp>
      <p:sp>
        <p:nvSpPr>
          <p:cNvPr id="16" name="Shape 14"/>
          <p:cNvSpPr/>
          <p:nvPr/>
        </p:nvSpPr>
        <p:spPr>
          <a:xfrm>
            <a:off x="8016240" y="2766060"/>
            <a:ext cx="3505200" cy="2286000"/>
          </a:xfrm>
          <a:prstGeom prst="rect">
            <a:avLst/>
          </a:prstGeom>
          <a:solidFill>
            <a:srgbClr val="EFE9DF"/>
          </a:solidFill>
          <a:ln/>
        </p:spPr>
      </p:sp>
      <p:sp>
        <p:nvSpPr>
          <p:cNvPr id="17" name="Shape 15"/>
          <p:cNvSpPr/>
          <p:nvPr/>
        </p:nvSpPr>
        <p:spPr>
          <a:xfrm>
            <a:off x="8290560" y="3022092"/>
            <a:ext cx="384048" cy="384048"/>
          </a:xfrm>
          <a:prstGeom prst="ellipse">
            <a:avLst/>
          </a:prstGeom>
          <a:solidFill>
            <a:srgbClr val="1A1A1A"/>
          </a:solidFill>
          <a:ln/>
        </p:spPr>
      </p:sp>
      <p:sp>
        <p:nvSpPr>
          <p:cNvPr id="18" name="Text 16"/>
          <p:cNvSpPr/>
          <p:nvPr/>
        </p:nvSpPr>
        <p:spPr>
          <a:xfrm>
            <a:off x="8290560" y="30220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290560" y="3515868"/>
            <a:ext cx="295656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orders</a:t>
            </a:r>
            <a:endParaRPr lang="en-US" sz="1500" dirty="0"/>
          </a:p>
        </p:txBody>
      </p:sp>
      <p:sp>
        <p:nvSpPr>
          <p:cNvPr id="20" name="Text 18"/>
          <p:cNvSpPr/>
          <p:nvPr/>
        </p:nvSpPr>
        <p:spPr>
          <a:xfrm>
            <a:off x="8290560" y="3863340"/>
            <a:ext cx="2956560" cy="9144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Trạng thái đơn, thông tin người nhận, phí ship, giảm giá, tổng tiền, kèm mã thanh toán và mã vận đơn phục vụ đối soát với SePay và đơn vị vận chuyển.</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3 · HỒ GIA PHÚC</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Sitemap website</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16</a:t>
            </a:r>
            <a:endParaRPr lang="en-US" sz="1000" dirty="0"/>
          </a:p>
        </p:txBody>
      </p:sp>
      <p:sp>
        <p:nvSpPr>
          <p:cNvPr id="6" name="Shape 4"/>
          <p:cNvSpPr/>
          <p:nvPr/>
        </p:nvSpPr>
        <p:spPr>
          <a:xfrm>
            <a:off x="640080" y="1783080"/>
            <a:ext cx="7040880" cy="4206240"/>
          </a:xfrm>
          <a:prstGeom prst="rect">
            <a:avLst/>
          </a:prstGeom>
          <a:solidFill>
            <a:srgbClr val="FAF8F5"/>
          </a:solidFill>
          <a:ln w="15875">
            <a:solidFill>
              <a:srgbClr val="DED5C7"/>
            </a:solidFill>
            <a:prstDash val="dash"/>
          </a:ln>
        </p:spPr>
      </p:sp>
      <p:sp>
        <p:nvSpPr>
          <p:cNvPr id="7" name="Text 5"/>
          <p:cNvSpPr/>
          <p:nvPr/>
        </p:nvSpPr>
        <p:spPr>
          <a:xfrm>
            <a:off x="640080" y="3657600"/>
            <a:ext cx="7040880" cy="457200"/>
          </a:xfrm>
          <a:prstGeom prst="rect">
            <a:avLst/>
          </a:prstGeom>
          <a:noFill/>
          <a:ln/>
        </p:spPr>
        <p:txBody>
          <a:bodyPr wrap="square" lIns="0" tIns="0" rIns="0" bIns="0" rtlCol="0" anchor="ctr"/>
          <a:lstStyle/>
          <a:p>
            <a:pPr algn="ctr" indent="0" marL="0">
              <a:buNone/>
            </a:pPr>
            <a:r>
              <a:rPr lang="en-US" sz="1200" i="1" dirty="0">
                <a:solidFill>
                  <a:srgbClr val="6E6A65"/>
                </a:solidFill>
                <a:latin typeface="Calibri" pitchFamily="34" charset="0"/>
                <a:ea typeface="Calibri" pitchFamily="34" charset="-122"/>
                <a:cs typeface="Calibri" pitchFamily="34" charset="-120"/>
              </a:rPr>
              <a:t>Chèn ảnh sitemap tại đây (docs/sitemap-cay.png)</a:t>
            </a:r>
            <a:endParaRPr lang="en-US" sz="1200" dirty="0"/>
          </a:p>
        </p:txBody>
      </p:sp>
      <p:sp>
        <p:nvSpPr>
          <p:cNvPr id="8" name="Shape 6"/>
          <p:cNvSpPr/>
          <p:nvPr/>
        </p:nvSpPr>
        <p:spPr>
          <a:xfrm>
            <a:off x="7955280" y="1783080"/>
            <a:ext cx="3566160" cy="1600200"/>
          </a:xfrm>
          <a:prstGeom prst="rect">
            <a:avLst/>
          </a:prstGeom>
          <a:solidFill>
            <a:srgbClr val="EFE9DF"/>
          </a:solidFill>
          <a:ln/>
        </p:spPr>
      </p:sp>
      <p:sp>
        <p:nvSpPr>
          <p:cNvPr id="9" name="Text 7"/>
          <p:cNvSpPr/>
          <p:nvPr/>
        </p:nvSpPr>
        <p:spPr>
          <a:xfrm>
            <a:off x="8229600" y="2057400"/>
            <a:ext cx="301752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Khu vực khách hàng</a:t>
            </a:r>
            <a:endParaRPr lang="en-US" sz="1500" dirty="0"/>
          </a:p>
        </p:txBody>
      </p:sp>
      <p:sp>
        <p:nvSpPr>
          <p:cNvPr id="10" name="Text 8"/>
          <p:cNvSpPr/>
          <p:nvPr/>
        </p:nvSpPr>
        <p:spPr>
          <a:xfrm>
            <a:off x="8229600" y="2404872"/>
            <a:ext cx="3017520" cy="6858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Trang chủ, Sản phẩm, Chi tiết, Giỏ hàng, Thanh toán, Tài khoản, Đơn hàng của tôi.</a:t>
            </a:r>
            <a:endParaRPr lang="en-US" sz="1250" dirty="0"/>
          </a:p>
        </p:txBody>
      </p:sp>
      <p:sp>
        <p:nvSpPr>
          <p:cNvPr id="11" name="Shape 9"/>
          <p:cNvSpPr/>
          <p:nvPr/>
        </p:nvSpPr>
        <p:spPr>
          <a:xfrm>
            <a:off x="7955280" y="3566160"/>
            <a:ext cx="3566160" cy="1600200"/>
          </a:xfrm>
          <a:prstGeom prst="rect">
            <a:avLst/>
          </a:prstGeom>
          <a:solidFill>
            <a:srgbClr val="EFE9DF"/>
          </a:solidFill>
          <a:ln/>
        </p:spPr>
      </p:sp>
      <p:sp>
        <p:nvSpPr>
          <p:cNvPr id="12" name="Text 10"/>
          <p:cNvSpPr/>
          <p:nvPr/>
        </p:nvSpPr>
        <p:spPr>
          <a:xfrm>
            <a:off x="8229600" y="3840480"/>
            <a:ext cx="301752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Khu vực quản trị</a:t>
            </a:r>
            <a:endParaRPr lang="en-US" sz="1500" dirty="0"/>
          </a:p>
        </p:txBody>
      </p:sp>
      <p:sp>
        <p:nvSpPr>
          <p:cNvPr id="13" name="Text 11"/>
          <p:cNvSpPr/>
          <p:nvPr/>
        </p:nvSpPr>
        <p:spPr>
          <a:xfrm>
            <a:off x="8229600" y="4187952"/>
            <a:ext cx="3017520" cy="6858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Dashboard, Sản phẩm, Danh mục, Đơn hàng, Khách hàng, Bình luận, Voucher, Thống kê.</a:t>
            </a:r>
            <a:endParaRPr lang="en-US" sz="1250" dirty="0"/>
          </a:p>
        </p:txBody>
      </p:sp>
      <p:sp>
        <p:nvSpPr>
          <p:cNvPr id="14" name="Shape 12"/>
          <p:cNvSpPr/>
          <p:nvPr/>
        </p:nvSpPr>
        <p:spPr>
          <a:xfrm>
            <a:off x="7955280" y="5349240"/>
            <a:ext cx="3566160" cy="640080"/>
          </a:xfrm>
          <a:prstGeom prst="rect">
            <a:avLst/>
          </a:prstGeom>
          <a:solidFill>
            <a:srgbClr val="EFE9DF"/>
          </a:solidFill>
          <a:ln/>
        </p:spPr>
      </p:sp>
      <p:sp>
        <p:nvSpPr>
          <p:cNvPr id="15" name="Text 13"/>
          <p:cNvSpPr/>
          <p:nvPr/>
        </p:nvSpPr>
        <p:spPr>
          <a:xfrm>
            <a:off x="8229600" y="5623560"/>
            <a:ext cx="301752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Trang xác thực dùng chung</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3 · HỒ GIA PHÚC</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Thiết kế giao diện khách hàng</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17</a:t>
            </a:r>
            <a:endParaRPr lang="en-US" sz="1000" dirty="0"/>
          </a:p>
        </p:txBody>
      </p:sp>
      <p:sp>
        <p:nvSpPr>
          <p:cNvPr id="6" name="Text 4"/>
          <p:cNvSpPr/>
          <p:nvPr/>
        </p:nvSpPr>
        <p:spPr>
          <a:xfrm>
            <a:off x="640080" y="1691640"/>
            <a:ext cx="10881360" cy="320040"/>
          </a:xfrm>
          <a:prstGeom prst="rect">
            <a:avLst/>
          </a:prstGeom>
          <a:noFill/>
          <a:ln/>
        </p:spPr>
        <p:txBody>
          <a:bodyPr wrap="square" lIns="0" tIns="0" rIns="0" bIns="0" rtlCol="0" anchor="ctr"/>
          <a:lstStyle/>
          <a:p>
            <a:pPr indent="0" marL="0">
              <a:buNone/>
            </a:pPr>
            <a:r>
              <a:rPr lang="en-US" sz="1400" i="1" dirty="0">
                <a:solidFill>
                  <a:srgbClr val="6E6A65"/>
                </a:solidFill>
                <a:latin typeface="Calibri" pitchFamily="34" charset="0"/>
                <a:ea typeface="Calibri" pitchFamily="34" charset="-122"/>
                <a:cs typeface="Calibri" pitchFamily="34" charset="-120"/>
              </a:rPr>
              <a:t>Bố cục chung: header (danh mục, tìm kiếm, giỏ hàng, tài khoản) — nội dung — footer.</a:t>
            </a:r>
            <a:endParaRPr lang="en-US" sz="1400" dirty="0"/>
          </a:p>
        </p:txBody>
      </p:sp>
      <p:sp>
        <p:nvSpPr>
          <p:cNvPr id="7" name="Shape 5"/>
          <p:cNvSpPr/>
          <p:nvPr/>
        </p:nvSpPr>
        <p:spPr>
          <a:xfrm>
            <a:off x="640080" y="2377440"/>
            <a:ext cx="5349240" cy="1371600"/>
          </a:xfrm>
          <a:prstGeom prst="rect">
            <a:avLst/>
          </a:prstGeom>
          <a:solidFill>
            <a:srgbClr val="EFE9DF"/>
          </a:solidFill>
          <a:ln/>
        </p:spPr>
      </p:sp>
      <p:sp>
        <p:nvSpPr>
          <p:cNvPr id="8" name="Text 6"/>
          <p:cNvSpPr/>
          <p:nvPr/>
        </p:nvSpPr>
        <p:spPr>
          <a:xfrm>
            <a:off x="914400" y="265176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Trang chủ</a:t>
            </a:r>
            <a:endParaRPr lang="en-US" sz="1500" dirty="0"/>
          </a:p>
        </p:txBody>
      </p:sp>
      <p:sp>
        <p:nvSpPr>
          <p:cNvPr id="9" name="Text 7"/>
          <p:cNvSpPr/>
          <p:nvPr/>
        </p:nvSpPr>
        <p:spPr>
          <a:xfrm>
            <a:off x="914400" y="2999232"/>
            <a:ext cx="4800600" cy="4572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Banner quảng cáo, danh mục nổi bật, sản phẩm mới, bán chạy và xu hướng.</a:t>
            </a:r>
            <a:endParaRPr lang="en-US" sz="1250" dirty="0"/>
          </a:p>
        </p:txBody>
      </p:sp>
      <p:sp>
        <p:nvSpPr>
          <p:cNvPr id="10" name="Shape 8"/>
          <p:cNvSpPr/>
          <p:nvPr/>
        </p:nvSpPr>
        <p:spPr>
          <a:xfrm>
            <a:off x="6172200" y="2377440"/>
            <a:ext cx="5349240" cy="1371600"/>
          </a:xfrm>
          <a:prstGeom prst="rect">
            <a:avLst/>
          </a:prstGeom>
          <a:solidFill>
            <a:srgbClr val="EFE9DF"/>
          </a:solidFill>
          <a:ln/>
        </p:spPr>
      </p:sp>
      <p:sp>
        <p:nvSpPr>
          <p:cNvPr id="11" name="Text 9"/>
          <p:cNvSpPr/>
          <p:nvPr/>
        </p:nvSpPr>
        <p:spPr>
          <a:xfrm>
            <a:off x="6446520" y="265176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Trang sản phẩm</a:t>
            </a:r>
            <a:endParaRPr lang="en-US" sz="1500" dirty="0"/>
          </a:p>
        </p:txBody>
      </p:sp>
      <p:sp>
        <p:nvSpPr>
          <p:cNvPr id="12" name="Text 10"/>
          <p:cNvSpPr/>
          <p:nvPr/>
        </p:nvSpPr>
        <p:spPr>
          <a:xfrm>
            <a:off x="6446520" y="2999232"/>
            <a:ext cx="4800600" cy="4572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Lưới sản phẩm kèm bộ lọc theo danh mục, giá, size, màu và phân trang.</a:t>
            </a:r>
            <a:endParaRPr lang="en-US" sz="1250" dirty="0"/>
          </a:p>
        </p:txBody>
      </p:sp>
      <p:sp>
        <p:nvSpPr>
          <p:cNvPr id="13" name="Shape 11"/>
          <p:cNvSpPr/>
          <p:nvPr/>
        </p:nvSpPr>
        <p:spPr>
          <a:xfrm>
            <a:off x="640080" y="3931920"/>
            <a:ext cx="5349240" cy="1371600"/>
          </a:xfrm>
          <a:prstGeom prst="rect">
            <a:avLst/>
          </a:prstGeom>
          <a:solidFill>
            <a:srgbClr val="EFE9DF"/>
          </a:solidFill>
          <a:ln/>
        </p:spPr>
      </p:sp>
      <p:sp>
        <p:nvSpPr>
          <p:cNvPr id="14" name="Text 12"/>
          <p:cNvSpPr/>
          <p:nvPr/>
        </p:nvSpPr>
        <p:spPr>
          <a:xfrm>
            <a:off x="914400" y="420624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Trang chi tiết</a:t>
            </a:r>
            <a:endParaRPr lang="en-US" sz="1500" dirty="0"/>
          </a:p>
        </p:txBody>
      </p:sp>
      <p:sp>
        <p:nvSpPr>
          <p:cNvPr id="15" name="Text 13"/>
          <p:cNvSpPr/>
          <p:nvPr/>
        </p:nvSpPr>
        <p:spPr>
          <a:xfrm>
            <a:off x="914400" y="4553712"/>
            <a:ext cx="4800600" cy="4572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Bộ ảnh sản phẩm, chọn màu và size theo biến thể, tồn kho thực tế, đánh giá của khách.</a:t>
            </a:r>
            <a:endParaRPr lang="en-US" sz="1250" dirty="0"/>
          </a:p>
        </p:txBody>
      </p:sp>
      <p:sp>
        <p:nvSpPr>
          <p:cNvPr id="16" name="Shape 14"/>
          <p:cNvSpPr/>
          <p:nvPr/>
        </p:nvSpPr>
        <p:spPr>
          <a:xfrm>
            <a:off x="6172200" y="3931920"/>
            <a:ext cx="5349240" cy="1371600"/>
          </a:xfrm>
          <a:prstGeom prst="rect">
            <a:avLst/>
          </a:prstGeom>
          <a:solidFill>
            <a:srgbClr val="EFE9DF"/>
          </a:solidFill>
          <a:ln/>
        </p:spPr>
      </p:sp>
      <p:sp>
        <p:nvSpPr>
          <p:cNvPr id="17" name="Text 15"/>
          <p:cNvSpPr/>
          <p:nvPr/>
        </p:nvSpPr>
        <p:spPr>
          <a:xfrm>
            <a:off x="6446520" y="420624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Giỏ hàng và thanh toán</a:t>
            </a:r>
            <a:endParaRPr lang="en-US" sz="1500" dirty="0"/>
          </a:p>
        </p:txBody>
      </p:sp>
      <p:sp>
        <p:nvSpPr>
          <p:cNvPr id="18" name="Text 16"/>
          <p:cNvSpPr/>
          <p:nvPr/>
        </p:nvSpPr>
        <p:spPr>
          <a:xfrm>
            <a:off x="6446520" y="4553712"/>
            <a:ext cx="4800600" cy="4572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Cập nhật số lượng, áp voucher, chọn địa chỉ và phương thức thanh toán.</a:t>
            </a:r>
            <a:endParaRPr lang="en-US" sz="1250" dirty="0"/>
          </a:p>
        </p:txBody>
      </p:sp>
      <p:sp>
        <p:nvSpPr>
          <p:cNvPr id="19" name="Text 17"/>
          <p:cNvSpPr/>
          <p:nvPr/>
        </p:nvSpPr>
        <p:spPr>
          <a:xfrm>
            <a:off x="640080" y="5669280"/>
            <a:ext cx="10881360" cy="320040"/>
          </a:xfrm>
          <a:prstGeom prst="rect">
            <a:avLst/>
          </a:prstGeom>
          <a:noFill/>
          <a:ln/>
        </p:spPr>
        <p:txBody>
          <a:bodyPr wrap="square" lIns="0" tIns="0" rIns="0" bIns="0" rtlCol="0" anchor="ctr"/>
          <a:lstStyle/>
          <a:p>
            <a:pPr indent="0" marL="0">
              <a:buNone/>
            </a:pPr>
            <a:r>
              <a:rPr lang="en-US" sz="1300" i="1" dirty="0">
                <a:solidFill>
                  <a:srgbClr val="6E6A65"/>
                </a:solidFill>
                <a:latin typeface="Calibri" pitchFamily="34" charset="0"/>
                <a:ea typeface="Calibri" pitchFamily="34" charset="-122"/>
                <a:cs typeface="Calibri" pitchFamily="34" charset="-120"/>
              </a:rPr>
              <a:t>Giao diện responsive bằng TailwindCSS, ảnh sản phẩm được nén và tải chậm khi cuộn tới.</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3 · HỒ GIA PHÚC</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Thiết kế giao diện quản trị</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18</a:t>
            </a:r>
            <a:endParaRPr lang="en-US" sz="1000" dirty="0"/>
          </a:p>
        </p:txBody>
      </p:sp>
      <p:sp>
        <p:nvSpPr>
          <p:cNvPr id="6" name="Text 4"/>
          <p:cNvSpPr/>
          <p:nvPr/>
        </p:nvSpPr>
        <p:spPr>
          <a:xfrm>
            <a:off x="640080" y="1691640"/>
            <a:ext cx="10881360" cy="320040"/>
          </a:xfrm>
          <a:prstGeom prst="rect">
            <a:avLst/>
          </a:prstGeom>
          <a:noFill/>
          <a:ln/>
        </p:spPr>
        <p:txBody>
          <a:bodyPr wrap="square" lIns="0" tIns="0" rIns="0" bIns="0" rtlCol="0" anchor="ctr"/>
          <a:lstStyle/>
          <a:p>
            <a:pPr indent="0" marL="0">
              <a:buNone/>
            </a:pPr>
            <a:r>
              <a:rPr lang="en-US" sz="1400" i="1" dirty="0">
                <a:solidFill>
                  <a:srgbClr val="6E6A65"/>
                </a:solidFill>
                <a:latin typeface="Calibri" pitchFamily="34" charset="0"/>
                <a:ea typeface="Calibri" pitchFamily="34" charset="-122"/>
                <a:cs typeface="Calibri" pitchFamily="34" charset="-120"/>
              </a:rPr>
              <a:t>Layout gồm sidebar điều hướng, thanh trên và vùng nội dung dạng bảng dữ liệu.</a:t>
            </a:r>
            <a:endParaRPr lang="en-US" sz="1400" dirty="0"/>
          </a:p>
        </p:txBody>
      </p:sp>
      <p:sp>
        <p:nvSpPr>
          <p:cNvPr id="7" name="Shape 5"/>
          <p:cNvSpPr/>
          <p:nvPr/>
        </p:nvSpPr>
        <p:spPr>
          <a:xfrm>
            <a:off x="640080" y="2423160"/>
            <a:ext cx="2583180" cy="1591056"/>
          </a:xfrm>
          <a:prstGeom prst="rect">
            <a:avLst/>
          </a:prstGeom>
          <a:solidFill>
            <a:srgbClr val="EFE9DF"/>
          </a:solidFill>
          <a:ln/>
        </p:spPr>
      </p:sp>
      <p:sp>
        <p:nvSpPr>
          <p:cNvPr id="8" name="Text 6"/>
          <p:cNvSpPr/>
          <p:nvPr/>
        </p:nvSpPr>
        <p:spPr>
          <a:xfrm>
            <a:off x="914400" y="2697480"/>
            <a:ext cx="203454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Dashboard</a:t>
            </a:r>
            <a:endParaRPr lang="en-US" sz="1500" dirty="0"/>
          </a:p>
        </p:txBody>
      </p:sp>
      <p:sp>
        <p:nvSpPr>
          <p:cNvPr id="9" name="Text 7"/>
          <p:cNvSpPr/>
          <p:nvPr/>
        </p:nvSpPr>
        <p:spPr>
          <a:xfrm>
            <a:off x="914400" y="3044952"/>
            <a:ext cx="2034540" cy="676656"/>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Số liệu tổng quan doanh thu, đơn hàng và khách hàng mới.</a:t>
            </a:r>
            <a:endParaRPr lang="en-US" sz="1250" dirty="0"/>
          </a:p>
        </p:txBody>
      </p:sp>
      <p:sp>
        <p:nvSpPr>
          <p:cNvPr id="10" name="Shape 8"/>
          <p:cNvSpPr/>
          <p:nvPr/>
        </p:nvSpPr>
        <p:spPr>
          <a:xfrm>
            <a:off x="3406140" y="2423160"/>
            <a:ext cx="2583180" cy="1591056"/>
          </a:xfrm>
          <a:prstGeom prst="rect">
            <a:avLst/>
          </a:prstGeom>
          <a:solidFill>
            <a:srgbClr val="EFE9DF"/>
          </a:solidFill>
          <a:ln/>
        </p:spPr>
      </p:sp>
      <p:sp>
        <p:nvSpPr>
          <p:cNvPr id="11" name="Text 9"/>
          <p:cNvSpPr/>
          <p:nvPr/>
        </p:nvSpPr>
        <p:spPr>
          <a:xfrm>
            <a:off x="3680460" y="2697480"/>
            <a:ext cx="203454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Quản lý sản phẩm</a:t>
            </a:r>
            <a:endParaRPr lang="en-US" sz="1500" dirty="0"/>
          </a:p>
        </p:txBody>
      </p:sp>
      <p:sp>
        <p:nvSpPr>
          <p:cNvPr id="12" name="Text 10"/>
          <p:cNvSpPr/>
          <p:nvPr/>
        </p:nvSpPr>
        <p:spPr>
          <a:xfrm>
            <a:off x="3680460" y="3044952"/>
            <a:ext cx="2034540" cy="676656"/>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Bảng danh sách, tìm kiếm, phân trang, form thêm sửa kèm ảnh và biến thể.</a:t>
            </a:r>
            <a:endParaRPr lang="en-US" sz="1250" dirty="0"/>
          </a:p>
        </p:txBody>
      </p:sp>
      <p:sp>
        <p:nvSpPr>
          <p:cNvPr id="13" name="Shape 11"/>
          <p:cNvSpPr/>
          <p:nvPr/>
        </p:nvSpPr>
        <p:spPr>
          <a:xfrm>
            <a:off x="6172200" y="2423160"/>
            <a:ext cx="2583180" cy="1591056"/>
          </a:xfrm>
          <a:prstGeom prst="rect">
            <a:avLst/>
          </a:prstGeom>
          <a:solidFill>
            <a:srgbClr val="EFE9DF"/>
          </a:solidFill>
          <a:ln/>
        </p:spPr>
      </p:sp>
      <p:sp>
        <p:nvSpPr>
          <p:cNvPr id="14" name="Text 12"/>
          <p:cNvSpPr/>
          <p:nvPr/>
        </p:nvSpPr>
        <p:spPr>
          <a:xfrm>
            <a:off x="6446520" y="2697480"/>
            <a:ext cx="203454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Quản lý đơn hàng</a:t>
            </a:r>
            <a:endParaRPr lang="en-US" sz="1500" dirty="0"/>
          </a:p>
        </p:txBody>
      </p:sp>
      <p:sp>
        <p:nvSpPr>
          <p:cNvPr id="15" name="Text 13"/>
          <p:cNvSpPr/>
          <p:nvPr/>
        </p:nvSpPr>
        <p:spPr>
          <a:xfrm>
            <a:off x="6446520" y="3044952"/>
            <a:ext cx="2034540" cy="676656"/>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Lọc theo trạng thái, xem chi tiết, xác nhận và cập nhật trạng thái giao hàng.</a:t>
            </a:r>
            <a:endParaRPr lang="en-US" sz="1250" dirty="0"/>
          </a:p>
        </p:txBody>
      </p:sp>
      <p:sp>
        <p:nvSpPr>
          <p:cNvPr id="16" name="Shape 14"/>
          <p:cNvSpPr/>
          <p:nvPr/>
        </p:nvSpPr>
        <p:spPr>
          <a:xfrm>
            <a:off x="8938260" y="2423160"/>
            <a:ext cx="2583180" cy="1591056"/>
          </a:xfrm>
          <a:prstGeom prst="rect">
            <a:avLst/>
          </a:prstGeom>
          <a:solidFill>
            <a:srgbClr val="EFE9DF"/>
          </a:solidFill>
          <a:ln/>
        </p:spPr>
      </p:sp>
      <p:sp>
        <p:nvSpPr>
          <p:cNvPr id="17" name="Text 15"/>
          <p:cNvSpPr/>
          <p:nvPr/>
        </p:nvSpPr>
        <p:spPr>
          <a:xfrm>
            <a:off x="9212580" y="2697480"/>
            <a:ext cx="203454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Bình luận và thống kê</a:t>
            </a:r>
            <a:endParaRPr lang="en-US" sz="1500" dirty="0"/>
          </a:p>
        </p:txBody>
      </p:sp>
      <p:sp>
        <p:nvSpPr>
          <p:cNvPr id="18" name="Text 16"/>
          <p:cNvSpPr/>
          <p:nvPr/>
        </p:nvSpPr>
        <p:spPr>
          <a:xfrm>
            <a:off x="9212580" y="3044952"/>
            <a:ext cx="2034540" cy="676656"/>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Duyệt hoặc xóa đánh giá không phù hợp, biểu đồ hàng hóa theo loại.</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2103120"/>
            <a:ext cx="3657600" cy="1280160"/>
          </a:xfrm>
          <a:prstGeom prst="rect">
            <a:avLst/>
          </a:prstGeom>
          <a:noFill/>
          <a:ln/>
        </p:spPr>
        <p:txBody>
          <a:bodyPr wrap="square" lIns="0" tIns="0" rIns="0" bIns="0" rtlCol="0" anchor="ctr"/>
          <a:lstStyle/>
          <a:p>
            <a:pPr indent="0" marL="0">
              <a:buNone/>
            </a:pPr>
            <a:r>
              <a:rPr lang="en-US" sz="6400" b="1" dirty="0">
                <a:solidFill>
                  <a:srgbClr val="3A3733"/>
                </a:solidFill>
                <a:latin typeface="Cambria" pitchFamily="34" charset="0"/>
                <a:ea typeface="Cambria" pitchFamily="34" charset="-122"/>
                <a:cs typeface="Cambria" pitchFamily="34" charset="-120"/>
              </a:rPr>
              <a:t>04</a:t>
            </a:r>
            <a:endParaRPr lang="en-US" sz="6400" dirty="0"/>
          </a:p>
        </p:txBody>
      </p:sp>
      <p:sp>
        <p:nvSpPr>
          <p:cNvPr id="3" name="Text 1"/>
          <p:cNvSpPr/>
          <p:nvPr/>
        </p:nvSpPr>
        <p:spPr>
          <a:xfrm>
            <a:off x="822960" y="3383280"/>
            <a:ext cx="64008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Trần Kiêm Định</a:t>
            </a:r>
            <a:endParaRPr lang="en-US" sz="3000" dirty="0"/>
          </a:p>
        </p:txBody>
      </p:sp>
      <p:sp>
        <p:nvSpPr>
          <p:cNvPr id="4" name="Text 2"/>
          <p:cNvSpPr/>
          <p:nvPr/>
        </p:nvSpPr>
        <p:spPr>
          <a:xfrm>
            <a:off x="822960" y="3977640"/>
            <a:ext cx="7772400" cy="457200"/>
          </a:xfrm>
          <a:prstGeom prst="rect">
            <a:avLst/>
          </a:prstGeom>
          <a:noFill/>
          <a:ln/>
        </p:spPr>
        <p:txBody>
          <a:bodyPr wrap="square" lIns="0" tIns="0" rIns="0" bIns="0" rtlCol="0" anchor="ctr"/>
          <a:lstStyle/>
          <a:p>
            <a:pPr indent="0" marL="0">
              <a:buNone/>
            </a:pPr>
            <a:r>
              <a:rPr lang="en-US" sz="1400" dirty="0">
                <a:solidFill>
                  <a:srgbClr val="A9A399"/>
                </a:solidFill>
                <a:latin typeface="Calibri" pitchFamily="34" charset="0"/>
                <a:ea typeface="Calibri" pitchFamily="34" charset="-122"/>
                <a:cs typeface="Calibri" pitchFamily="34" charset="-120"/>
              </a:rPr>
              <a:t>Demo sản phẩm · Kiểm lỗi · Đóng gói và triển khai · Kết luận</a:t>
            </a:r>
            <a:endParaRPr lang="en-US" sz="1400" dirty="0"/>
          </a:p>
        </p:txBody>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19</a:t>
            </a:r>
            <a:endParaRPr lang="en-US" sz="1000" dirty="0"/>
          </a:p>
        </p:txBody>
      </p:sp>
      <p:sp>
        <p:nvSpPr>
          <p:cNvPr id="6" name="Shape 4"/>
          <p:cNvSpPr/>
          <p:nvPr/>
        </p:nvSpPr>
        <p:spPr>
          <a:xfrm>
            <a:off x="11292840" y="6419088"/>
            <a:ext cx="82296" cy="82296"/>
          </a:xfrm>
          <a:prstGeom prst="rect">
            <a:avLst/>
          </a:prstGeom>
          <a:solidFill>
            <a:srgbClr val="EFE9DF"/>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4 · TRẦN KIÊM ĐỊNH</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Demo — luồng mua hàng của khách</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20</a:t>
            </a:r>
            <a:endParaRPr lang="en-US" sz="1000" dirty="0"/>
          </a:p>
        </p:txBody>
      </p:sp>
      <p:sp>
        <p:nvSpPr>
          <p:cNvPr id="6" name="Shape 4"/>
          <p:cNvSpPr/>
          <p:nvPr/>
        </p:nvSpPr>
        <p:spPr>
          <a:xfrm>
            <a:off x="640080" y="2103120"/>
            <a:ext cx="2029968" cy="2066544"/>
          </a:xfrm>
          <a:prstGeom prst="rect">
            <a:avLst/>
          </a:prstGeom>
          <a:solidFill>
            <a:srgbClr val="EFE9DF"/>
          </a:solidFill>
          <a:ln/>
        </p:spPr>
      </p:sp>
      <p:sp>
        <p:nvSpPr>
          <p:cNvPr id="7" name="Shape 5"/>
          <p:cNvSpPr/>
          <p:nvPr/>
        </p:nvSpPr>
        <p:spPr>
          <a:xfrm>
            <a:off x="914400" y="2359152"/>
            <a:ext cx="384048" cy="384048"/>
          </a:xfrm>
          <a:prstGeom prst="ellipse">
            <a:avLst/>
          </a:prstGeom>
          <a:solidFill>
            <a:srgbClr val="1A1A1A"/>
          </a:solidFill>
          <a:ln/>
        </p:spPr>
      </p:sp>
      <p:sp>
        <p:nvSpPr>
          <p:cNvPr id="8" name="Text 6"/>
          <p:cNvSpPr/>
          <p:nvPr/>
        </p:nvSpPr>
        <p:spPr>
          <a:xfrm>
            <a:off x="914400" y="2359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914400" y="2852928"/>
            <a:ext cx="1481328"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Tìm kiếm</a:t>
            </a:r>
            <a:endParaRPr lang="en-US" sz="1500" dirty="0"/>
          </a:p>
        </p:txBody>
      </p:sp>
      <p:sp>
        <p:nvSpPr>
          <p:cNvPr id="10" name="Text 8"/>
          <p:cNvSpPr/>
          <p:nvPr/>
        </p:nvSpPr>
        <p:spPr>
          <a:xfrm>
            <a:off x="914400" y="3200400"/>
            <a:ext cx="1481328" cy="694944"/>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Vào trang chủ, tìm và lọc sản phẩm theo danh mục.</a:t>
            </a:r>
            <a:endParaRPr lang="en-US" sz="1250" dirty="0"/>
          </a:p>
        </p:txBody>
      </p:sp>
      <p:sp>
        <p:nvSpPr>
          <p:cNvPr id="11" name="Shape 9"/>
          <p:cNvSpPr/>
          <p:nvPr/>
        </p:nvSpPr>
        <p:spPr>
          <a:xfrm>
            <a:off x="2852928" y="2103120"/>
            <a:ext cx="2029968" cy="2066544"/>
          </a:xfrm>
          <a:prstGeom prst="rect">
            <a:avLst/>
          </a:prstGeom>
          <a:solidFill>
            <a:srgbClr val="EFE9DF"/>
          </a:solidFill>
          <a:ln/>
        </p:spPr>
      </p:sp>
      <p:sp>
        <p:nvSpPr>
          <p:cNvPr id="12" name="Shape 10"/>
          <p:cNvSpPr/>
          <p:nvPr/>
        </p:nvSpPr>
        <p:spPr>
          <a:xfrm>
            <a:off x="3127248" y="2359152"/>
            <a:ext cx="384048" cy="384048"/>
          </a:xfrm>
          <a:prstGeom prst="ellipse">
            <a:avLst/>
          </a:prstGeom>
          <a:solidFill>
            <a:srgbClr val="1A1A1A"/>
          </a:solidFill>
          <a:ln/>
        </p:spPr>
      </p:sp>
      <p:sp>
        <p:nvSpPr>
          <p:cNvPr id="13" name="Text 11"/>
          <p:cNvSpPr/>
          <p:nvPr/>
        </p:nvSpPr>
        <p:spPr>
          <a:xfrm>
            <a:off x="3127248" y="2359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3127248" y="2852928"/>
            <a:ext cx="1481328"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Chọn biến thể</a:t>
            </a:r>
            <a:endParaRPr lang="en-US" sz="1500" dirty="0"/>
          </a:p>
        </p:txBody>
      </p:sp>
      <p:sp>
        <p:nvSpPr>
          <p:cNvPr id="15" name="Text 13"/>
          <p:cNvSpPr/>
          <p:nvPr/>
        </p:nvSpPr>
        <p:spPr>
          <a:xfrm>
            <a:off x="3127248" y="3200400"/>
            <a:ext cx="1481328" cy="694944"/>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Xem chi tiết, chọn màu và size, thêm vào giỏ hàng.</a:t>
            </a:r>
            <a:endParaRPr lang="en-US" sz="1250" dirty="0"/>
          </a:p>
        </p:txBody>
      </p:sp>
      <p:sp>
        <p:nvSpPr>
          <p:cNvPr id="16" name="Shape 14"/>
          <p:cNvSpPr/>
          <p:nvPr/>
        </p:nvSpPr>
        <p:spPr>
          <a:xfrm>
            <a:off x="5065776" y="2103120"/>
            <a:ext cx="2029968" cy="2066544"/>
          </a:xfrm>
          <a:prstGeom prst="rect">
            <a:avLst/>
          </a:prstGeom>
          <a:solidFill>
            <a:srgbClr val="EFE9DF"/>
          </a:solidFill>
          <a:ln/>
        </p:spPr>
      </p:sp>
      <p:sp>
        <p:nvSpPr>
          <p:cNvPr id="17" name="Shape 15"/>
          <p:cNvSpPr/>
          <p:nvPr/>
        </p:nvSpPr>
        <p:spPr>
          <a:xfrm>
            <a:off x="5340096" y="2359152"/>
            <a:ext cx="384048" cy="384048"/>
          </a:xfrm>
          <a:prstGeom prst="ellipse">
            <a:avLst/>
          </a:prstGeom>
          <a:solidFill>
            <a:srgbClr val="1A1A1A"/>
          </a:solidFill>
          <a:ln/>
        </p:spPr>
      </p:sp>
      <p:sp>
        <p:nvSpPr>
          <p:cNvPr id="18" name="Text 16"/>
          <p:cNvSpPr/>
          <p:nvPr/>
        </p:nvSpPr>
        <p:spPr>
          <a:xfrm>
            <a:off x="5340096" y="2359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5340096" y="2852928"/>
            <a:ext cx="1481328"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Giỏ hàng</a:t>
            </a:r>
            <a:endParaRPr lang="en-US" sz="1500" dirty="0"/>
          </a:p>
        </p:txBody>
      </p:sp>
      <p:sp>
        <p:nvSpPr>
          <p:cNvPr id="20" name="Text 18"/>
          <p:cNvSpPr/>
          <p:nvPr/>
        </p:nvSpPr>
        <p:spPr>
          <a:xfrm>
            <a:off x="5340096" y="3200400"/>
            <a:ext cx="1481328" cy="694944"/>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Chỉnh số lượng và áp mã giảm giá.</a:t>
            </a:r>
            <a:endParaRPr lang="en-US" sz="1250" dirty="0"/>
          </a:p>
        </p:txBody>
      </p:sp>
      <p:sp>
        <p:nvSpPr>
          <p:cNvPr id="21" name="Shape 19"/>
          <p:cNvSpPr/>
          <p:nvPr/>
        </p:nvSpPr>
        <p:spPr>
          <a:xfrm>
            <a:off x="7278624" y="2103120"/>
            <a:ext cx="2029968" cy="2066544"/>
          </a:xfrm>
          <a:prstGeom prst="rect">
            <a:avLst/>
          </a:prstGeom>
          <a:solidFill>
            <a:srgbClr val="EFE9DF"/>
          </a:solidFill>
          <a:ln/>
        </p:spPr>
      </p:sp>
      <p:sp>
        <p:nvSpPr>
          <p:cNvPr id="22" name="Shape 20"/>
          <p:cNvSpPr/>
          <p:nvPr/>
        </p:nvSpPr>
        <p:spPr>
          <a:xfrm>
            <a:off x="7552944" y="2359152"/>
            <a:ext cx="384048" cy="384048"/>
          </a:xfrm>
          <a:prstGeom prst="ellipse">
            <a:avLst/>
          </a:prstGeom>
          <a:solidFill>
            <a:srgbClr val="1A1A1A"/>
          </a:solidFill>
          <a:ln/>
        </p:spPr>
      </p:sp>
      <p:sp>
        <p:nvSpPr>
          <p:cNvPr id="23" name="Text 21"/>
          <p:cNvSpPr/>
          <p:nvPr/>
        </p:nvSpPr>
        <p:spPr>
          <a:xfrm>
            <a:off x="7552944" y="2359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7552944" y="2852928"/>
            <a:ext cx="1481328"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Đặt hàng</a:t>
            </a:r>
            <a:endParaRPr lang="en-US" sz="1500" dirty="0"/>
          </a:p>
        </p:txBody>
      </p:sp>
      <p:sp>
        <p:nvSpPr>
          <p:cNvPr id="25" name="Text 23"/>
          <p:cNvSpPr/>
          <p:nvPr/>
        </p:nvSpPr>
        <p:spPr>
          <a:xfrm>
            <a:off x="7552944" y="3200400"/>
            <a:ext cx="1481328" cy="694944"/>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Điền thông tin nhận hàng, chọn phương thức thanh toán.</a:t>
            </a:r>
            <a:endParaRPr lang="en-US" sz="1250" dirty="0"/>
          </a:p>
        </p:txBody>
      </p:sp>
      <p:sp>
        <p:nvSpPr>
          <p:cNvPr id="26" name="Shape 24"/>
          <p:cNvSpPr/>
          <p:nvPr/>
        </p:nvSpPr>
        <p:spPr>
          <a:xfrm>
            <a:off x="9491472" y="2103120"/>
            <a:ext cx="2029968" cy="2066544"/>
          </a:xfrm>
          <a:prstGeom prst="rect">
            <a:avLst/>
          </a:prstGeom>
          <a:solidFill>
            <a:srgbClr val="EFE9DF"/>
          </a:solidFill>
          <a:ln/>
        </p:spPr>
      </p:sp>
      <p:sp>
        <p:nvSpPr>
          <p:cNvPr id="27" name="Shape 25"/>
          <p:cNvSpPr/>
          <p:nvPr/>
        </p:nvSpPr>
        <p:spPr>
          <a:xfrm>
            <a:off x="9765792" y="2359152"/>
            <a:ext cx="384048" cy="384048"/>
          </a:xfrm>
          <a:prstGeom prst="ellipse">
            <a:avLst/>
          </a:prstGeom>
          <a:solidFill>
            <a:srgbClr val="1A1A1A"/>
          </a:solidFill>
          <a:ln/>
        </p:spPr>
      </p:sp>
      <p:sp>
        <p:nvSpPr>
          <p:cNvPr id="28" name="Text 26"/>
          <p:cNvSpPr/>
          <p:nvPr/>
        </p:nvSpPr>
        <p:spPr>
          <a:xfrm>
            <a:off x="9765792" y="2359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9765792" y="2852928"/>
            <a:ext cx="1481328"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Theo dõi</a:t>
            </a:r>
            <a:endParaRPr lang="en-US" sz="1500" dirty="0"/>
          </a:p>
        </p:txBody>
      </p:sp>
      <p:sp>
        <p:nvSpPr>
          <p:cNvPr id="30" name="Text 28"/>
          <p:cNvSpPr/>
          <p:nvPr/>
        </p:nvSpPr>
        <p:spPr>
          <a:xfrm>
            <a:off x="9765792" y="3200400"/>
            <a:ext cx="1481328" cy="694944"/>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Xem trạng thái đơn và gửi đánh giá sau khi nhận hàng.</a:t>
            </a:r>
            <a:endParaRPr lang="en-US" sz="1250" dirty="0"/>
          </a:p>
        </p:txBody>
      </p:sp>
      <p:sp>
        <p:nvSpPr>
          <p:cNvPr id="31" name="Shape 29"/>
          <p:cNvSpPr/>
          <p:nvPr/>
        </p:nvSpPr>
        <p:spPr>
          <a:xfrm>
            <a:off x="640080" y="4535424"/>
            <a:ext cx="10881360" cy="1453896"/>
          </a:xfrm>
          <a:prstGeom prst="rect">
            <a:avLst/>
          </a:prstGeom>
          <a:solidFill>
            <a:srgbClr val="FAF8F5"/>
          </a:solidFill>
          <a:ln w="15875">
            <a:solidFill>
              <a:srgbClr val="DED5C7"/>
            </a:solidFill>
            <a:prstDash val="dash"/>
          </a:ln>
        </p:spPr>
      </p:sp>
      <p:sp>
        <p:nvSpPr>
          <p:cNvPr id="32" name="Text 30"/>
          <p:cNvSpPr/>
          <p:nvPr/>
        </p:nvSpPr>
        <p:spPr>
          <a:xfrm>
            <a:off x="640080" y="5033772"/>
            <a:ext cx="10881360" cy="457200"/>
          </a:xfrm>
          <a:prstGeom prst="rect">
            <a:avLst/>
          </a:prstGeom>
          <a:noFill/>
          <a:ln/>
        </p:spPr>
        <p:txBody>
          <a:bodyPr wrap="square" lIns="0" tIns="0" rIns="0" bIns="0" rtlCol="0" anchor="ctr"/>
          <a:lstStyle/>
          <a:p>
            <a:pPr algn="ctr" indent="0" marL="0">
              <a:buNone/>
            </a:pPr>
            <a:r>
              <a:rPr lang="en-US" sz="1200" i="1" dirty="0">
                <a:solidFill>
                  <a:srgbClr val="6E6A65"/>
                </a:solidFill>
                <a:latin typeface="Calibri" pitchFamily="34" charset="0"/>
                <a:ea typeface="Calibri" pitchFamily="34" charset="-122"/>
                <a:cs typeface="Calibri" pitchFamily="34" charset="-120"/>
              </a:rPr>
              <a:t>Chèn ảnh chụp màn hình luồng mua hàng (hoặc chuyển sang trình duyệt để demo trực tiếp)</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4 · TRẦN KIÊM ĐỊNH</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Demo — quản trị và thanh toán SePay</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21</a:t>
            </a:r>
            <a:endParaRPr lang="en-US" sz="1000" dirty="0"/>
          </a:p>
        </p:txBody>
      </p:sp>
      <p:sp>
        <p:nvSpPr>
          <p:cNvPr id="6" name="Text 4"/>
          <p:cNvSpPr/>
          <p:nvPr/>
        </p:nvSpPr>
        <p:spPr>
          <a:xfrm>
            <a:off x="640080" y="1965960"/>
            <a:ext cx="10881360" cy="24688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Đăng nhập tài khoản quản trị, xem dashboard và danh sách đơn hàng mới</a:t>
            </a:r>
            <a:endParaRPr lang="en-US" sz="1600" dirty="0"/>
          </a:p>
          <a:p>
            <a:pPr marL="342900" indent="-342900">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Thêm sản phẩm mới kèm ảnh và các biến thể màu, size, tồn kho</a:t>
            </a:r>
            <a:endParaRPr lang="en-US" sz="1600" dirty="0"/>
          </a:p>
          <a:p>
            <a:pPr marL="342900" indent="-342900">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Xác nhận đơn hàng và cập nhật trạng thái giao hàng</a:t>
            </a:r>
            <a:endParaRPr lang="en-US" sz="1600" dirty="0"/>
          </a:p>
          <a:p>
            <a:pPr marL="342900" indent="-342900">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Thanh toán chuyển khoản: hệ thống sinh mã QR, SePay gọi webhook /api/sepay/webhook khi tài khoản có tiền vào</a:t>
            </a:r>
            <a:endParaRPr lang="en-US" sz="1600" dirty="0"/>
          </a:p>
          <a:p>
            <a:pPr marL="342900" indent="-342900">
              <a:spcAft>
                <a:spcPts val="1000"/>
              </a:spcAft>
              <a:buSzPct val="100000"/>
              <a:buChar char="•"/>
            </a:pPr>
            <a:r>
              <a:rPr lang="en-US" sz="1600" dirty="0">
                <a:solidFill>
                  <a:srgbClr val="1A1A1A"/>
                </a:solidFill>
                <a:latin typeface="Calibri" pitchFamily="34" charset="0"/>
                <a:ea typeface="Calibri" pitchFamily="34" charset="-122"/>
                <a:cs typeface="Calibri" pitchFamily="34" charset="-120"/>
              </a:rPr>
              <a:t>Khi chưa có tài khoản SePay thật, nhóm bật chế độ giả lập để chạy thử trọn vẹn luồng thanh toán</a:t>
            </a:r>
            <a:endParaRPr lang="en-US" sz="1600" dirty="0"/>
          </a:p>
        </p:txBody>
      </p:sp>
      <p:sp>
        <p:nvSpPr>
          <p:cNvPr id="7" name="Shape 5"/>
          <p:cNvSpPr/>
          <p:nvPr/>
        </p:nvSpPr>
        <p:spPr>
          <a:xfrm>
            <a:off x="640080" y="4526280"/>
            <a:ext cx="10881360" cy="1463040"/>
          </a:xfrm>
          <a:prstGeom prst="rect">
            <a:avLst/>
          </a:prstGeom>
          <a:solidFill>
            <a:srgbClr val="FAF8F5"/>
          </a:solidFill>
          <a:ln w="15875">
            <a:solidFill>
              <a:srgbClr val="DED5C7"/>
            </a:solidFill>
            <a:prstDash val="dash"/>
          </a:ln>
        </p:spPr>
      </p:sp>
      <p:sp>
        <p:nvSpPr>
          <p:cNvPr id="8" name="Text 6"/>
          <p:cNvSpPr/>
          <p:nvPr/>
        </p:nvSpPr>
        <p:spPr>
          <a:xfrm>
            <a:off x="640080" y="5029200"/>
            <a:ext cx="10881360" cy="457200"/>
          </a:xfrm>
          <a:prstGeom prst="rect">
            <a:avLst/>
          </a:prstGeom>
          <a:noFill/>
          <a:ln/>
        </p:spPr>
        <p:txBody>
          <a:bodyPr wrap="square" lIns="0" tIns="0" rIns="0" bIns="0" rtlCol="0" anchor="ctr"/>
          <a:lstStyle/>
          <a:p>
            <a:pPr algn="ctr" indent="0" marL="0">
              <a:buNone/>
            </a:pPr>
            <a:r>
              <a:rPr lang="en-US" sz="1200" i="1" dirty="0">
                <a:solidFill>
                  <a:srgbClr val="6E6A65"/>
                </a:solidFill>
                <a:latin typeface="Calibri" pitchFamily="34" charset="0"/>
                <a:ea typeface="Calibri" pitchFamily="34" charset="-122"/>
                <a:cs typeface="Calibri" pitchFamily="34" charset="-120"/>
              </a:rPr>
              <a:t>Chèn ảnh chụp màn hình trang quản trị và màn hình thanh toán QR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4 · TRẦN KIÊM ĐỊNH</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Kiểm lỗi và ràng buộc dữ liệu</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22</a:t>
            </a:r>
            <a:endParaRPr lang="en-US" sz="1000" dirty="0"/>
          </a:p>
        </p:txBody>
      </p:sp>
      <p:sp>
        <p:nvSpPr>
          <p:cNvPr id="6" name="Shape 4"/>
          <p:cNvSpPr/>
          <p:nvPr/>
        </p:nvSpPr>
        <p:spPr>
          <a:xfrm>
            <a:off x="640080" y="2226564"/>
            <a:ext cx="5349240" cy="1591056"/>
          </a:xfrm>
          <a:prstGeom prst="rect">
            <a:avLst/>
          </a:prstGeom>
          <a:solidFill>
            <a:srgbClr val="EFE9DF"/>
          </a:solidFill>
          <a:ln/>
        </p:spPr>
      </p:sp>
      <p:sp>
        <p:nvSpPr>
          <p:cNvPr id="7" name="Text 5"/>
          <p:cNvSpPr/>
          <p:nvPr/>
        </p:nvSpPr>
        <p:spPr>
          <a:xfrm>
            <a:off x="914400" y="2500884"/>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Form đăng ký</a:t>
            </a:r>
            <a:endParaRPr lang="en-US" sz="1500" dirty="0"/>
          </a:p>
        </p:txBody>
      </p:sp>
      <p:sp>
        <p:nvSpPr>
          <p:cNvPr id="8" name="Text 6"/>
          <p:cNvSpPr/>
          <p:nvPr/>
        </p:nvSpPr>
        <p:spPr>
          <a:xfrm>
            <a:off x="914400" y="2848356"/>
            <a:ext cx="4800600" cy="676656"/>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Email đúng định dạng và không trùng; mật khẩu tối thiểu 8 ký tự có chữ hoa, chữ thường, số và ký tự đặc biệt; số điện thoại 10 chữ số bắt đầu bằng 0.</a:t>
            </a:r>
            <a:endParaRPr lang="en-US" sz="1250" dirty="0"/>
          </a:p>
        </p:txBody>
      </p:sp>
      <p:sp>
        <p:nvSpPr>
          <p:cNvPr id="9" name="Shape 7"/>
          <p:cNvSpPr/>
          <p:nvPr/>
        </p:nvSpPr>
        <p:spPr>
          <a:xfrm>
            <a:off x="6172200" y="2226564"/>
            <a:ext cx="5349240" cy="1591056"/>
          </a:xfrm>
          <a:prstGeom prst="rect">
            <a:avLst/>
          </a:prstGeom>
          <a:solidFill>
            <a:srgbClr val="EFE9DF"/>
          </a:solidFill>
          <a:ln/>
        </p:spPr>
      </p:sp>
      <p:sp>
        <p:nvSpPr>
          <p:cNvPr id="10" name="Text 8"/>
          <p:cNvSpPr/>
          <p:nvPr/>
        </p:nvSpPr>
        <p:spPr>
          <a:xfrm>
            <a:off x="6446520" y="2500884"/>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Form đăng nhập</a:t>
            </a:r>
            <a:endParaRPr lang="en-US" sz="1500" dirty="0"/>
          </a:p>
        </p:txBody>
      </p:sp>
      <p:sp>
        <p:nvSpPr>
          <p:cNvPr id="11" name="Text 9"/>
          <p:cNvSpPr/>
          <p:nvPr/>
        </p:nvSpPr>
        <p:spPr>
          <a:xfrm>
            <a:off x="6446520" y="2848356"/>
            <a:ext cx="4800600" cy="676656"/>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Báo lỗi chung “Tên đăng nhập hoặc mật khẩu không đúng”, giới hạn 5 lần sai liên tiếp.</a:t>
            </a:r>
            <a:endParaRPr lang="en-US" sz="1250" dirty="0"/>
          </a:p>
        </p:txBody>
      </p:sp>
      <p:sp>
        <p:nvSpPr>
          <p:cNvPr id="12" name="Shape 10"/>
          <p:cNvSpPr/>
          <p:nvPr/>
        </p:nvSpPr>
        <p:spPr>
          <a:xfrm>
            <a:off x="640080" y="4000500"/>
            <a:ext cx="5349240" cy="1591056"/>
          </a:xfrm>
          <a:prstGeom prst="rect">
            <a:avLst/>
          </a:prstGeom>
          <a:solidFill>
            <a:srgbClr val="EFE9DF"/>
          </a:solidFill>
          <a:ln/>
        </p:spPr>
      </p:sp>
      <p:sp>
        <p:nvSpPr>
          <p:cNvPr id="13" name="Text 11"/>
          <p:cNvSpPr/>
          <p:nvPr/>
        </p:nvSpPr>
        <p:spPr>
          <a:xfrm>
            <a:off x="914400" y="427482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Form đổi mật khẩu</a:t>
            </a:r>
            <a:endParaRPr lang="en-US" sz="1500" dirty="0"/>
          </a:p>
        </p:txBody>
      </p:sp>
      <p:sp>
        <p:nvSpPr>
          <p:cNvPr id="14" name="Text 12"/>
          <p:cNvSpPr/>
          <p:nvPr/>
        </p:nvSpPr>
        <p:spPr>
          <a:xfrm>
            <a:off x="914400" y="4622292"/>
            <a:ext cx="4800600" cy="676656"/>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Mật khẩu cũ phải đúng, mật khẩu mới phải khác mật khẩu cũ và trùng khớp phần nhập lại.</a:t>
            </a:r>
            <a:endParaRPr lang="en-US" sz="1250" dirty="0"/>
          </a:p>
        </p:txBody>
      </p:sp>
      <p:sp>
        <p:nvSpPr>
          <p:cNvPr id="15" name="Shape 13"/>
          <p:cNvSpPr/>
          <p:nvPr/>
        </p:nvSpPr>
        <p:spPr>
          <a:xfrm>
            <a:off x="6172200" y="4000500"/>
            <a:ext cx="5349240" cy="1591056"/>
          </a:xfrm>
          <a:prstGeom prst="rect">
            <a:avLst/>
          </a:prstGeom>
          <a:solidFill>
            <a:srgbClr val="EFE9DF"/>
          </a:solidFill>
          <a:ln/>
        </p:spPr>
      </p:sp>
      <p:sp>
        <p:nvSpPr>
          <p:cNvPr id="16" name="Text 14"/>
          <p:cNvSpPr/>
          <p:nvPr/>
        </p:nvSpPr>
        <p:spPr>
          <a:xfrm>
            <a:off x="6446520" y="427482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Form quản lý sản phẩm</a:t>
            </a:r>
            <a:endParaRPr lang="en-US" sz="1500" dirty="0"/>
          </a:p>
        </p:txBody>
      </p:sp>
      <p:sp>
        <p:nvSpPr>
          <p:cNvPr id="17" name="Text 15"/>
          <p:cNvSpPr/>
          <p:nvPr/>
        </p:nvSpPr>
        <p:spPr>
          <a:xfrm>
            <a:off x="6446520" y="4622292"/>
            <a:ext cx="4800600" cy="676656"/>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Không để trống, giá phải là số dương, lọc mã HTML trong mô tả trước khi lưu.</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4 · TRẦN KIÊM ĐỊNH</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Đóng gói và triển khai</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23</a:t>
            </a:r>
            <a:endParaRPr lang="en-US" sz="1000" dirty="0"/>
          </a:p>
        </p:txBody>
      </p:sp>
      <p:sp>
        <p:nvSpPr>
          <p:cNvPr id="6" name="Shape 4"/>
          <p:cNvSpPr/>
          <p:nvPr/>
        </p:nvSpPr>
        <p:spPr>
          <a:xfrm>
            <a:off x="640080" y="2446020"/>
            <a:ext cx="5349240" cy="1371600"/>
          </a:xfrm>
          <a:prstGeom prst="rect">
            <a:avLst/>
          </a:prstGeom>
          <a:solidFill>
            <a:srgbClr val="EFE9DF"/>
          </a:solidFill>
          <a:ln/>
        </p:spPr>
      </p:sp>
      <p:sp>
        <p:nvSpPr>
          <p:cNvPr id="7" name="Text 5"/>
          <p:cNvSpPr/>
          <p:nvPr/>
        </p:nvSpPr>
        <p:spPr>
          <a:xfrm>
            <a:off x="914400" y="272034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Đóng gói Back-end</a:t>
            </a:r>
            <a:endParaRPr lang="en-US" sz="1500" dirty="0"/>
          </a:p>
        </p:txBody>
      </p:sp>
      <p:sp>
        <p:nvSpPr>
          <p:cNvPr id="8" name="Text 6"/>
          <p:cNvSpPr/>
          <p:nvPr/>
        </p:nvSpPr>
        <p:spPr>
          <a:xfrm>
            <a:off x="914400" y="3067812"/>
            <a:ext cx="4800600" cy="4572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Cài gói production, sinh lại Prisma Client, dựng 13 bảng bằng prisma db push, chạy nền bằng PM2 và giữ kín tệp .env.</a:t>
            </a:r>
            <a:endParaRPr lang="en-US" sz="1250" dirty="0"/>
          </a:p>
        </p:txBody>
      </p:sp>
      <p:sp>
        <p:nvSpPr>
          <p:cNvPr id="9" name="Shape 7"/>
          <p:cNvSpPr/>
          <p:nvPr/>
        </p:nvSpPr>
        <p:spPr>
          <a:xfrm>
            <a:off x="6172200" y="2446020"/>
            <a:ext cx="5349240" cy="1371600"/>
          </a:xfrm>
          <a:prstGeom prst="rect">
            <a:avLst/>
          </a:prstGeom>
          <a:solidFill>
            <a:srgbClr val="EFE9DF"/>
          </a:solidFill>
          <a:ln/>
        </p:spPr>
      </p:sp>
      <p:sp>
        <p:nvSpPr>
          <p:cNvPr id="10" name="Text 8"/>
          <p:cNvSpPr/>
          <p:nvPr/>
        </p:nvSpPr>
        <p:spPr>
          <a:xfrm>
            <a:off x="6446520" y="272034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Đóng gói Front-end</a:t>
            </a:r>
            <a:endParaRPr lang="en-US" sz="1500" dirty="0"/>
          </a:p>
        </p:txBody>
      </p:sp>
      <p:sp>
        <p:nvSpPr>
          <p:cNvPr id="11" name="Text 9"/>
          <p:cNvSpPr/>
          <p:nvPr/>
        </p:nvSpPr>
        <p:spPr>
          <a:xfrm>
            <a:off x="6446520" y="3067812"/>
            <a:ext cx="4800600" cy="4572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Trỏ VITE_API_URL về API, chạy npm run build: kiểm kiểu rồi kết xuất dist, rút gọn mã, tách gói theo trang và nén ảnh.</a:t>
            </a:r>
            <a:endParaRPr lang="en-US" sz="1250" dirty="0"/>
          </a:p>
        </p:txBody>
      </p:sp>
      <p:sp>
        <p:nvSpPr>
          <p:cNvPr id="12" name="Shape 10"/>
          <p:cNvSpPr/>
          <p:nvPr/>
        </p:nvSpPr>
        <p:spPr>
          <a:xfrm>
            <a:off x="640080" y="4000500"/>
            <a:ext cx="5349240" cy="1371600"/>
          </a:xfrm>
          <a:prstGeom prst="rect">
            <a:avLst/>
          </a:prstGeom>
          <a:solidFill>
            <a:srgbClr val="EFE9DF"/>
          </a:solidFill>
          <a:ln/>
        </p:spPr>
      </p:sp>
      <p:sp>
        <p:nvSpPr>
          <p:cNvPr id="13" name="Text 11"/>
          <p:cNvSpPr/>
          <p:nvPr/>
        </p:nvSpPr>
        <p:spPr>
          <a:xfrm>
            <a:off x="914400" y="427482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Môi trường hiện tại</a:t>
            </a:r>
            <a:endParaRPr lang="en-US" sz="1500" dirty="0"/>
          </a:p>
        </p:txBody>
      </p:sp>
      <p:sp>
        <p:nvSpPr>
          <p:cNvPr id="14" name="Text 12"/>
          <p:cNvSpPr/>
          <p:nvPr/>
        </p:nvSpPr>
        <p:spPr>
          <a:xfrm>
            <a:off x="914400" y="4622292"/>
            <a:ext cx="4800600" cy="4572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Chạy cục bộ trên máy của nhóm: MySQL trong XAMPP, API cổng 4000, giao diện cổng 5173, mã nguồn quản lý trên GitHub.</a:t>
            </a:r>
            <a:endParaRPr lang="en-US" sz="1250" dirty="0"/>
          </a:p>
        </p:txBody>
      </p:sp>
      <p:sp>
        <p:nvSpPr>
          <p:cNvPr id="15" name="Shape 13"/>
          <p:cNvSpPr/>
          <p:nvPr/>
        </p:nvSpPr>
        <p:spPr>
          <a:xfrm>
            <a:off x="6172200" y="4000500"/>
            <a:ext cx="5349240" cy="1371600"/>
          </a:xfrm>
          <a:prstGeom prst="rect">
            <a:avLst/>
          </a:prstGeom>
          <a:solidFill>
            <a:srgbClr val="EFE9DF"/>
          </a:solidFill>
          <a:ln/>
        </p:spPr>
      </p:sp>
      <p:sp>
        <p:nvSpPr>
          <p:cNvPr id="16" name="Text 14"/>
          <p:cNvSpPr/>
          <p:nvPr/>
        </p:nvSpPr>
        <p:spPr>
          <a:xfrm>
            <a:off x="6446520" y="4274820"/>
            <a:ext cx="480060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Dự kiến đưa lên Internet</a:t>
            </a:r>
            <a:endParaRPr lang="en-US" sz="1500" dirty="0"/>
          </a:p>
        </p:txBody>
      </p:sp>
      <p:sp>
        <p:nvSpPr>
          <p:cNvPr id="17" name="Text 15"/>
          <p:cNvSpPr/>
          <p:nvPr/>
        </p:nvSpPr>
        <p:spPr>
          <a:xfrm>
            <a:off x="6446520" y="4622292"/>
            <a:ext cx="4800600" cy="457200"/>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Tên miền hoangnha.shop, Front-end trên Vercel hoặc Netlify, Back-end trên VPS hoặc Railway, bắt buộc HTTPS bằng chứng chỉ SSL.</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274320"/>
          </a:xfrm>
          <a:prstGeom prst="rect">
            <a:avLst/>
          </a:prstGeom>
          <a:noFill/>
          <a:ln/>
        </p:spPr>
        <p:txBody>
          <a:bodyPr wrap="square" lIns="0" tIns="0" rIns="0" bIns="0" rtlCol="0" anchor="ctr"/>
          <a:lstStyle/>
          <a:p>
            <a:pPr indent="0" marL="0">
              <a:buNone/>
            </a:pPr>
            <a:r>
              <a:rPr lang="en-US" sz="1100" spc="200" kern="0" dirty="0">
                <a:solidFill>
                  <a:srgbClr val="6E6A65"/>
                </a:solidFill>
                <a:latin typeface="Calibri" pitchFamily="34" charset="0"/>
                <a:ea typeface="Calibri" pitchFamily="34" charset="-122"/>
                <a:cs typeface="Calibri" pitchFamily="34" charset="-120"/>
              </a:rPr>
              <a:t>PHẦN 4 · TRẦN KIÊM ĐỊNH</a:t>
            </a:r>
            <a:endParaRPr lang="en-US" sz="1100" dirty="0"/>
          </a:p>
        </p:txBody>
      </p:sp>
      <p:sp>
        <p:nvSpPr>
          <p:cNvPr id="3" name="Text 1"/>
          <p:cNvSpPr/>
          <p:nvPr/>
        </p:nvSpPr>
        <p:spPr>
          <a:xfrm>
            <a:off x="640080" y="713232"/>
            <a:ext cx="10881360" cy="777240"/>
          </a:xfrm>
          <a:prstGeom prst="rect">
            <a:avLst/>
          </a:prstGeom>
          <a:noFill/>
          <a:ln/>
        </p:spPr>
        <p:txBody>
          <a:bodyPr wrap="square" lIns="0" tIns="0" rIns="0" bIns="0" rtlCol="0" anchor="t"/>
          <a:lstStyle/>
          <a:p>
            <a:pPr indent="0" marL="0">
              <a:buNone/>
            </a:pPr>
            <a:r>
              <a:rPr lang="en-US" sz="3200" b="1" dirty="0">
                <a:solidFill>
                  <a:srgbClr val="1A1A1A"/>
                </a:solidFill>
                <a:latin typeface="Cambria" pitchFamily="34" charset="0"/>
                <a:ea typeface="Cambria" pitchFamily="34" charset="-122"/>
                <a:cs typeface="Cambria" pitchFamily="34" charset="-120"/>
              </a:rPr>
              <a:t>Kết luận và hướng phát triển</a:t>
            </a:r>
            <a:endParaRPr lang="en-US" sz="3200" dirty="0"/>
          </a:p>
        </p:txBody>
      </p:sp>
      <p:sp>
        <p:nvSpPr>
          <p:cNvPr id="4" name="Shape 2"/>
          <p:cNvSpPr/>
          <p:nvPr/>
        </p:nvSpPr>
        <p:spPr>
          <a:xfrm>
            <a:off x="11292840" y="6419088"/>
            <a:ext cx="82296" cy="82296"/>
          </a:xfrm>
          <a:prstGeom prst="rect">
            <a:avLst/>
          </a:prstGeom>
          <a:solidFill>
            <a:srgbClr val="1A1A1A"/>
          </a:solidFill>
          <a:ln/>
        </p:spPr>
      </p:sp>
      <p:sp>
        <p:nvSpPr>
          <p:cNvPr id="5" name="Text 3"/>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24</a:t>
            </a:r>
            <a:endParaRPr lang="en-US" sz="1000" dirty="0"/>
          </a:p>
        </p:txBody>
      </p:sp>
      <p:sp>
        <p:nvSpPr>
          <p:cNvPr id="6" name="Shape 4"/>
          <p:cNvSpPr/>
          <p:nvPr/>
        </p:nvSpPr>
        <p:spPr>
          <a:xfrm>
            <a:off x="640080" y="2784348"/>
            <a:ext cx="3505200" cy="2249424"/>
          </a:xfrm>
          <a:prstGeom prst="rect">
            <a:avLst/>
          </a:prstGeom>
          <a:solidFill>
            <a:srgbClr val="EFE9DF"/>
          </a:solidFill>
          <a:ln/>
        </p:spPr>
      </p:sp>
      <p:sp>
        <p:nvSpPr>
          <p:cNvPr id="7" name="Text 5"/>
          <p:cNvSpPr/>
          <p:nvPr/>
        </p:nvSpPr>
        <p:spPr>
          <a:xfrm>
            <a:off x="914400" y="3058668"/>
            <a:ext cx="295656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Kết quả đạt được</a:t>
            </a:r>
            <a:endParaRPr lang="en-US" sz="1500" dirty="0"/>
          </a:p>
        </p:txBody>
      </p:sp>
      <p:sp>
        <p:nvSpPr>
          <p:cNvPr id="8" name="Text 6"/>
          <p:cNvSpPr/>
          <p:nvPr/>
        </p:nvSpPr>
        <p:spPr>
          <a:xfrm>
            <a:off x="914400" y="3406140"/>
            <a:ext cx="2956560" cy="1335024"/>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Hoàn thành phần lớn nghiệp vụ cốt lõi: sản phẩm và biến thể, danh mục, tài khoản, tìm kiếm, giỏ hàng, đặt hàng, voucher và thanh toán chuyển khoản tự động. Kiến trúc tách biệt rõ ràng, dễ mở rộng.</a:t>
            </a:r>
            <a:endParaRPr lang="en-US" sz="1250" dirty="0"/>
          </a:p>
        </p:txBody>
      </p:sp>
      <p:sp>
        <p:nvSpPr>
          <p:cNvPr id="9" name="Shape 7"/>
          <p:cNvSpPr/>
          <p:nvPr/>
        </p:nvSpPr>
        <p:spPr>
          <a:xfrm>
            <a:off x="4328160" y="2784348"/>
            <a:ext cx="3505200" cy="2249424"/>
          </a:xfrm>
          <a:prstGeom prst="rect">
            <a:avLst/>
          </a:prstGeom>
          <a:solidFill>
            <a:srgbClr val="EFE9DF"/>
          </a:solidFill>
          <a:ln/>
        </p:spPr>
      </p:sp>
      <p:sp>
        <p:nvSpPr>
          <p:cNvPr id="10" name="Text 8"/>
          <p:cNvSpPr/>
          <p:nvPr/>
        </p:nvSpPr>
        <p:spPr>
          <a:xfrm>
            <a:off x="4602480" y="3058668"/>
            <a:ext cx="295656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Hạn chế còn tồn tại</a:t>
            </a:r>
            <a:endParaRPr lang="en-US" sz="1500" dirty="0"/>
          </a:p>
        </p:txBody>
      </p:sp>
      <p:sp>
        <p:nvSpPr>
          <p:cNvPr id="11" name="Text 9"/>
          <p:cNvSpPr/>
          <p:nvPr/>
        </p:nvSpPr>
        <p:spPr>
          <a:xfrm>
            <a:off x="4602480" y="3406140"/>
            <a:ext cx="2956560" cy="1335024"/>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Quản lý đơn hàng và quản lý bình luận chưa thật ổn định. Quản trị nội dung trang chủ chưa hoàn thiện, một số khối vẫn cố định trong mã nguồn. Website mới dừng ở mức demo cục bộ.</a:t>
            </a:r>
            <a:endParaRPr lang="en-US" sz="1250" dirty="0"/>
          </a:p>
        </p:txBody>
      </p:sp>
      <p:sp>
        <p:nvSpPr>
          <p:cNvPr id="12" name="Shape 10"/>
          <p:cNvSpPr/>
          <p:nvPr/>
        </p:nvSpPr>
        <p:spPr>
          <a:xfrm>
            <a:off x="8016240" y="2784348"/>
            <a:ext cx="3505200" cy="2249424"/>
          </a:xfrm>
          <a:prstGeom prst="rect">
            <a:avLst/>
          </a:prstGeom>
          <a:solidFill>
            <a:srgbClr val="EFE9DF"/>
          </a:solidFill>
          <a:ln/>
        </p:spPr>
      </p:sp>
      <p:sp>
        <p:nvSpPr>
          <p:cNvPr id="13" name="Text 11"/>
          <p:cNvSpPr/>
          <p:nvPr/>
        </p:nvSpPr>
        <p:spPr>
          <a:xfrm>
            <a:off x="8290560" y="3058668"/>
            <a:ext cx="2956560" cy="329184"/>
          </a:xfrm>
          <a:prstGeom prst="rect">
            <a:avLst/>
          </a:prstGeom>
          <a:noFill/>
          <a:ln/>
        </p:spPr>
        <p:txBody>
          <a:bodyPr wrap="square" lIns="0" tIns="0" rIns="0" bIns="0"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Hướng phát triển</a:t>
            </a:r>
            <a:endParaRPr lang="en-US" sz="1500" dirty="0"/>
          </a:p>
        </p:txBody>
      </p:sp>
      <p:sp>
        <p:nvSpPr>
          <p:cNvPr id="14" name="Text 12"/>
          <p:cNvSpPr/>
          <p:nvPr/>
        </p:nvSpPr>
        <p:spPr>
          <a:xfrm>
            <a:off x="8290560" y="3406140"/>
            <a:ext cx="2956560" cy="1335024"/>
          </a:xfrm>
          <a:prstGeom prst="rect">
            <a:avLst/>
          </a:prstGeom>
          <a:noFill/>
          <a:ln/>
        </p:spPr>
        <p:txBody>
          <a:bodyPr wrap="square" lIns="0" tIns="0" rIns="0" bIns="0" rtlCol="0" anchor="t"/>
          <a:lstStyle/>
          <a:p>
            <a:pPr indent="0" marL="0">
              <a:lnSpc>
                <a:spcPts val="1700"/>
              </a:lnSpc>
              <a:buNone/>
            </a:pPr>
            <a:r>
              <a:rPr lang="en-US" sz="1250" dirty="0">
                <a:solidFill>
                  <a:srgbClr val="6E6A65"/>
                </a:solidFill>
                <a:latin typeface="Calibri" pitchFamily="34" charset="0"/>
                <a:ea typeface="Calibri" pitchFamily="34" charset="-122"/>
                <a:cs typeface="Calibri" pitchFamily="34" charset="-120"/>
              </a:rPr>
              <a:t>Hoàn thiện quản trị nội dung, bổ sung chat hỗ trợ trực tuyến, tích hợp API đơn vị vận chuyển, đưa website lên môi trường Internet thật và phát triển ứng dụng di động dùng chung API.</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2286000"/>
            <a:ext cx="82296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Cảm ơn và hỏi đáp</a:t>
            </a:r>
            <a:endParaRPr lang="en-US" sz="4400" dirty="0"/>
          </a:p>
        </p:txBody>
      </p:sp>
      <p:sp>
        <p:nvSpPr>
          <p:cNvPr id="3" name="Text 1"/>
          <p:cNvSpPr/>
          <p:nvPr/>
        </p:nvSpPr>
        <p:spPr>
          <a:xfrm>
            <a:off x="822960" y="3291840"/>
            <a:ext cx="7863840" cy="1097280"/>
          </a:xfrm>
          <a:prstGeom prst="rect">
            <a:avLst/>
          </a:prstGeom>
          <a:noFill/>
          <a:ln/>
        </p:spPr>
        <p:txBody>
          <a:bodyPr wrap="square" lIns="0" tIns="0" rIns="0" bIns="0" rtlCol="0" anchor="ctr"/>
          <a:lstStyle/>
          <a:p>
            <a:pPr indent="0" marL="0">
              <a:lnSpc>
                <a:spcPts val="2400"/>
              </a:lnSpc>
              <a:buNone/>
            </a:pPr>
            <a:r>
              <a:rPr lang="en-US" sz="1500" dirty="0">
                <a:solidFill>
                  <a:srgbClr val="C9C4BB"/>
                </a:solidFill>
                <a:latin typeface="Calibri" pitchFamily="34" charset="0"/>
                <a:ea typeface="Calibri" pitchFamily="34" charset="-122"/>
                <a:cs typeface="Calibri" pitchFamily="34" charset="-120"/>
              </a:rPr>
              <a:t>Nhóm xin chân thành cảm ơn thầy Phạm Ngọc Cường đã tận tình hướng dẫn, cùng Quý Thầy Cô Bộ môn Công nghệ Thông tin và Nhà trường đã tạo điều kiện để nhóm hoàn thành đồ án.</a:t>
            </a:r>
            <a:endParaRPr lang="en-US" sz="1500" dirty="0"/>
          </a:p>
        </p:txBody>
      </p:sp>
      <p:sp>
        <p:nvSpPr>
          <p:cNvPr id="4" name="Text 2"/>
          <p:cNvSpPr/>
          <p:nvPr/>
        </p:nvSpPr>
        <p:spPr>
          <a:xfrm>
            <a:off x="822960" y="4754880"/>
            <a:ext cx="100584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Nhóm PRO2241.02  ·  Trần Quốc Duy  ·  Trần Khánh Hoàng  ·  Hồ Gia Phúc  ·  Trần Kiêm Định</a:t>
            </a:r>
            <a:endParaRPr lang="en-US" sz="1400" dirty="0"/>
          </a:p>
        </p:txBody>
      </p:sp>
      <p:sp>
        <p:nvSpPr>
          <p:cNvPr id="5" name="Text 3"/>
          <p:cNvSpPr/>
          <p:nvPr/>
        </p:nvSpPr>
        <p:spPr>
          <a:xfrm>
            <a:off x="822960" y="5212080"/>
            <a:ext cx="10058400" cy="365760"/>
          </a:xfrm>
          <a:prstGeom prst="rect">
            <a:avLst/>
          </a:prstGeom>
          <a:noFill/>
          <a:ln/>
        </p:spPr>
        <p:txBody>
          <a:bodyPr wrap="square" lIns="0" tIns="0" rIns="0" bIns="0" rtlCol="0" anchor="ctr"/>
          <a:lstStyle/>
          <a:p>
            <a:pPr indent="0" marL="0">
              <a:buNone/>
            </a:pPr>
            <a:r>
              <a:rPr lang="en-US" sz="1400" i="1" dirty="0">
                <a:solidFill>
                  <a:srgbClr val="A9A399"/>
                </a:solidFill>
                <a:latin typeface="Calibri" pitchFamily="34" charset="0"/>
                <a:ea typeface="Calibri" pitchFamily="34" charset="-122"/>
                <a:cs typeface="Calibri" pitchFamily="34" charset="-120"/>
              </a:rPr>
              <a:t>Rất mong nhận được câu hỏi và góp ý từ Hội đồng.</a:t>
            </a:r>
            <a:endParaRPr lang="en-US" sz="1400" dirty="0"/>
          </a:p>
        </p:txBody>
      </p:sp>
      <p:sp>
        <p:nvSpPr>
          <p:cNvPr id="6" name="Text 4"/>
          <p:cNvSpPr/>
          <p:nvPr/>
        </p:nvSpPr>
        <p:spPr>
          <a:xfrm>
            <a:off x="10607040" y="6272784"/>
            <a:ext cx="594360" cy="274320"/>
          </a:xfrm>
          <a:prstGeom prst="rect">
            <a:avLst/>
          </a:prstGeom>
          <a:noFill/>
          <a:ln/>
        </p:spPr>
        <p:txBody>
          <a:bodyPr wrap="square" lIns="0" tIns="0" rIns="0" bIns="0" rtlCol="0" anchor="ctr"/>
          <a:lstStyle/>
          <a:p>
            <a:pPr algn="r" indent="0" marL="0">
              <a:buNone/>
            </a:pPr>
            <a:r>
              <a:rPr lang="en-US" sz="1000" dirty="0">
                <a:solidFill>
                  <a:srgbClr val="6E6A65"/>
                </a:solidFill>
                <a:latin typeface="Calibri" pitchFamily="34" charset="0"/>
                <a:ea typeface="Calibri" pitchFamily="34" charset="-122"/>
                <a:cs typeface="Calibri" pitchFamily="34" charset="-120"/>
              </a:rPr>
              <a:t>25</a:t>
            </a:r>
            <a:endParaRPr lang="en-US" sz="1000" dirty="0"/>
          </a:p>
        </p:txBody>
      </p:sp>
      <p:sp>
        <p:nvSpPr>
          <p:cNvPr id="7" name="Shape 5"/>
          <p:cNvSpPr/>
          <p:nvPr/>
        </p:nvSpPr>
        <p:spPr>
          <a:xfrm>
            <a:off x="11292840" y="6419088"/>
            <a:ext cx="82296" cy="82296"/>
          </a:xfrm>
          <a:prstGeom prst="rect">
            <a:avLst/>
          </a:prstGeom>
          <a:solidFill>
            <a:srgbClr val="EFE9D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Bảo vệ đồ án tốt nghiệp - Website bán quần áo Hoàng Nha</dc:title>
  <dc:subject>PptxGenJS Presentation</dc:subject>
  <dc:creator>Nhóm PRO2241.02</dc:creator>
  <cp:lastModifiedBy>Nhóm PRO2241.02</cp:lastModifiedBy>
  <cp:revision>1</cp:revision>
  <dcterms:created xsi:type="dcterms:W3CDTF">2026-08-19T16:39:03Z</dcterms:created>
  <dcterms:modified xsi:type="dcterms:W3CDTF">2026-08-19T16:39:03Z</dcterms:modified>
</cp:coreProperties>
</file>